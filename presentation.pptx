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764" r:id="rId2"/>
  </p:sldMasterIdLst>
  <p:notesMasterIdLst>
    <p:notesMasterId r:id="rId21"/>
  </p:notesMasterIdLst>
  <p:sldIdLst>
    <p:sldId id="269" r:id="rId3"/>
    <p:sldId id="274" r:id="rId4"/>
    <p:sldId id="256" r:id="rId5"/>
    <p:sldId id="257" r:id="rId6"/>
    <p:sldId id="258" r:id="rId7"/>
    <p:sldId id="259" r:id="rId8"/>
    <p:sldId id="260" r:id="rId9"/>
    <p:sldId id="261" r:id="rId10"/>
    <p:sldId id="262" r:id="rId11"/>
    <p:sldId id="263" r:id="rId12"/>
    <p:sldId id="264" r:id="rId13"/>
    <p:sldId id="268" r:id="rId14"/>
    <p:sldId id="270" r:id="rId15"/>
    <p:sldId id="271" r:id="rId16"/>
    <p:sldId id="272" r:id="rId17"/>
    <p:sldId id="265" r:id="rId18"/>
    <p:sldId id="266" r:id="rId19"/>
    <p:sldId id="267" r:id="rId20"/>
  </p:sldIdLst>
  <p:sldSz cx="14630400" cy="8229600"/>
  <p:notesSz cx="8229600" cy="14630400"/>
  <p:embeddedFontLst>
    <p:embeddedFont>
      <p:font typeface="Garamond" panose="02020404030301010803" pitchFamily="18" charset="0"/>
      <p:regular r:id="rId22"/>
      <p:bold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1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275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1"/>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3ED7F8-6BD3-4140-B7C0-834C150270EC}"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17A3AD-F3FD-46E6-B231-B11F7E9713C5}" type="slidenum">
              <a:rPr lang="en-US" smtClean="0"/>
              <a:pPr/>
              <a:t>‹#›</a:t>
            </a:fld>
            <a:endParaRPr lang="en-US"/>
          </a:p>
        </p:txBody>
      </p:sp>
    </p:spTree>
    <p:extLst>
      <p:ext uri="{BB962C8B-B14F-4D97-AF65-F5344CB8AC3E}">
        <p14:creationId xmlns:p14="http://schemas.microsoft.com/office/powerpoint/2010/main" val="58969748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0321" y="0"/>
            <a:ext cx="14677392" cy="8227457"/>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3230878" y="2245358"/>
            <a:ext cx="8178803" cy="1818640"/>
          </a:xfrm>
        </p:spPr>
        <p:txBody>
          <a:bodyPr anchor="b">
            <a:noAutofit/>
          </a:bodyPr>
          <a:lstStyle>
            <a:lvl1pPr algn="ctr">
              <a:defRPr sz="6480">
                <a:effectLst/>
              </a:defRPr>
            </a:lvl1pPr>
          </a:lstStyle>
          <a:p>
            <a:r>
              <a:rPr lang="en-US"/>
              <a:t>Click to edit Master title style</a:t>
            </a:r>
            <a:endParaRPr lang="en-US" dirty="0"/>
          </a:p>
        </p:txBody>
      </p:sp>
      <p:sp>
        <p:nvSpPr>
          <p:cNvPr id="3" name="Subtitle 2"/>
          <p:cNvSpPr>
            <a:spLocks noGrp="1"/>
          </p:cNvSpPr>
          <p:nvPr>
            <p:ph type="subTitle" idx="1"/>
          </p:nvPr>
        </p:nvSpPr>
        <p:spPr>
          <a:xfrm>
            <a:off x="3230878" y="4389117"/>
            <a:ext cx="8178803" cy="1584962"/>
          </a:xfrm>
        </p:spPr>
        <p:txBody>
          <a:bodyPr anchor="t">
            <a:normAutofit/>
          </a:bodyPr>
          <a:lstStyle>
            <a:lvl1pPr marL="0" indent="0" algn="ctr">
              <a:buNone/>
              <a:defRPr sz="2520">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579879" y="6045196"/>
            <a:ext cx="1076960" cy="335280"/>
          </a:xfrm>
        </p:spPr>
        <p:txBody>
          <a:bodyPr/>
          <a:lstStyle/>
          <a:p>
            <a:fld id="{463ED7F8-6BD3-4140-B7C0-834C150270EC}" type="datetimeFigureOut">
              <a:rPr lang="en-US" smtClean="0"/>
              <a:pPr/>
              <a:t>6/21/2026</a:t>
            </a:fld>
            <a:endParaRPr lang="en-US"/>
          </a:p>
        </p:txBody>
      </p:sp>
      <p:sp>
        <p:nvSpPr>
          <p:cNvPr id="5" name="Footer Placeholder 4"/>
          <p:cNvSpPr>
            <a:spLocks noGrp="1"/>
          </p:cNvSpPr>
          <p:nvPr>
            <p:ph type="ftr" sz="quarter" idx="11"/>
          </p:nvPr>
        </p:nvSpPr>
        <p:spPr>
          <a:xfrm>
            <a:off x="3230877" y="6045196"/>
            <a:ext cx="6257562" cy="335280"/>
          </a:xfrm>
        </p:spPr>
        <p:txBody>
          <a:bodyPr/>
          <a:lstStyle/>
          <a:p>
            <a:endParaRPr lang="en-US"/>
          </a:p>
        </p:txBody>
      </p:sp>
      <p:sp>
        <p:nvSpPr>
          <p:cNvPr id="6" name="Slide Number Placeholder 5"/>
          <p:cNvSpPr>
            <a:spLocks noGrp="1"/>
          </p:cNvSpPr>
          <p:nvPr>
            <p:ph type="sldNum" sz="quarter" idx="12"/>
          </p:nvPr>
        </p:nvSpPr>
        <p:spPr>
          <a:xfrm>
            <a:off x="10748281" y="6045196"/>
            <a:ext cx="661400" cy="335280"/>
          </a:xfrm>
        </p:spPr>
        <p:txBody>
          <a:bodyPr/>
          <a:lstStyle/>
          <a:p>
            <a:fld id="{8617A3AD-F3FD-46E6-B231-B11F7E9713C5}" type="slidenum">
              <a:rPr lang="en-US" smtClean="0"/>
              <a:pPr/>
              <a:t>‹#›</a:t>
            </a:fld>
            <a:endParaRPr lang="en-US"/>
          </a:p>
        </p:txBody>
      </p:sp>
      <p:cxnSp>
        <p:nvCxnSpPr>
          <p:cNvPr id="15" name="Straight Connector 14"/>
          <p:cNvCxnSpPr/>
          <p:nvPr/>
        </p:nvCxnSpPr>
        <p:spPr>
          <a:xfrm>
            <a:off x="3230879" y="4226557"/>
            <a:ext cx="81788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743741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72449875"/>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18083" y="2103127"/>
            <a:ext cx="9790426" cy="2187017"/>
          </a:xfrm>
        </p:spPr>
        <p:txBody>
          <a:bodyPr anchor="b">
            <a:normAutofit/>
          </a:bodyPr>
          <a:lstStyle>
            <a:lvl1pPr algn="ctr">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2418080" y="4615262"/>
            <a:ext cx="9790428" cy="1145456"/>
          </a:xfrm>
        </p:spPr>
        <p:txBody>
          <a:bodyPr anchor="t">
            <a:normAutofit/>
          </a:bodyPr>
          <a:lstStyle>
            <a:lvl1pPr marL="0" indent="0" algn="ctr">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415268" y="4452702"/>
            <a:ext cx="9796056"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7039881"/>
      </p:ext>
    </p:extLst>
  </p:cSld>
  <p:clrMapOvr>
    <a:masterClrMapping/>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58138" y="3072384"/>
            <a:ext cx="5661965" cy="397215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17613" y="3072384"/>
            <a:ext cx="5661965" cy="397215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710441"/>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554480"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554480" y="3891915"/>
            <a:ext cx="5661965" cy="315912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16804"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16804" y="3891915"/>
            <a:ext cx="5661965" cy="315912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8" name="Straight Connector 1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9551822"/>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2138710"/>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6947678"/>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2574" y="1666241"/>
            <a:ext cx="4462146" cy="1645920"/>
          </a:xfrm>
        </p:spPr>
        <p:txBody>
          <a:bodyPr anchor="b">
            <a:normAutofit/>
          </a:bodyPr>
          <a:lstStyle>
            <a:lvl1pPr algn="ctr">
              <a:defRPr sz="2880" b="0"/>
            </a:lvl1pPr>
          </a:lstStyle>
          <a:p>
            <a:r>
              <a:rPr lang="en-US"/>
              <a:t>Click to edit Master title style</a:t>
            </a:r>
            <a:endParaRPr lang="en-US" dirty="0"/>
          </a:p>
        </p:txBody>
      </p:sp>
      <p:sp>
        <p:nvSpPr>
          <p:cNvPr id="3" name="Content Placeholder 2"/>
          <p:cNvSpPr>
            <a:spLocks noGrp="1"/>
          </p:cNvSpPr>
          <p:nvPr>
            <p:ph idx="1"/>
          </p:nvPr>
        </p:nvSpPr>
        <p:spPr>
          <a:xfrm>
            <a:off x="6502402" y="1178558"/>
            <a:ext cx="6563359" cy="5872482"/>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2574" y="3637278"/>
            <a:ext cx="4462146" cy="2926085"/>
          </a:xfrm>
        </p:spPr>
        <p:txBody>
          <a:bodyPr anchor="t">
            <a:normAutofit/>
          </a:bodyPr>
          <a:lstStyle>
            <a:lvl1pPr marL="0" indent="0" algn="ctr">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6" name="Straight Connector 15"/>
          <p:cNvCxnSpPr/>
          <p:nvPr/>
        </p:nvCxnSpPr>
        <p:spPr>
          <a:xfrm>
            <a:off x="1675403" y="3495040"/>
            <a:ext cx="42173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8628381"/>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479" y="2260598"/>
            <a:ext cx="7490179" cy="1645920"/>
          </a:xfrm>
        </p:spPr>
        <p:txBody>
          <a:bodyPr anchor="b">
            <a:normAutofit/>
          </a:bodyPr>
          <a:lstStyle>
            <a:lvl1pPr algn="ctr">
              <a:defRPr sz="336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9713798" y="1249680"/>
            <a:ext cx="3676016" cy="573024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554479" y="3906518"/>
            <a:ext cx="7490179" cy="2194560"/>
          </a:xfrm>
        </p:spPr>
        <p:txBody>
          <a:bodyPr anchor="t">
            <a:normAutofit/>
          </a:bodyPr>
          <a:lstStyle>
            <a:lvl1pPr marL="0" indent="0" algn="ct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52116"/>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481" y="5778498"/>
            <a:ext cx="11531599" cy="680086"/>
          </a:xfrm>
        </p:spPr>
        <p:txBody>
          <a:bodyPr anchor="b">
            <a:normAutofit/>
          </a:bodyPr>
          <a:lstStyle>
            <a:lvl1pPr algn="ctr">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49713" y="1249679"/>
            <a:ext cx="12127166" cy="4003043"/>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554481" y="6458584"/>
            <a:ext cx="11531599" cy="592454"/>
          </a:xfrm>
        </p:spPr>
        <p:txBody>
          <a:bodyPr>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ABC37A3-2A5A-4F30-AA49-432104BED4D8}" type="datetimeFigureOut">
              <a:rPr lang="en-IN" smtClean="0"/>
              <a:t>21-06-2026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AB9A1F-F8FD-4D8E-BF2F-8F971C4873D0}" type="slidenum">
              <a:rPr lang="en-IN" smtClean="0"/>
              <a:t>‹#›</a:t>
            </a:fld>
            <a:endParaRPr lang="en-IN"/>
          </a:p>
        </p:txBody>
      </p:sp>
    </p:spTree>
    <p:extLst>
      <p:ext uri="{BB962C8B-B14F-4D97-AF65-F5344CB8AC3E}">
        <p14:creationId xmlns:p14="http://schemas.microsoft.com/office/powerpoint/2010/main" val="2656765921"/>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64642" y="1178558"/>
            <a:ext cx="11511278" cy="3545842"/>
          </a:xfrm>
        </p:spPr>
        <p:txBody>
          <a:bodyPr anchor="ctr">
            <a:normAutofit/>
          </a:bodyPr>
          <a:lstStyle>
            <a:lvl1pPr algn="ctr">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564642" y="5212080"/>
            <a:ext cx="11511278"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C37A3-2A5A-4F30-AA49-432104BED4D8}" type="datetimeFigureOut">
              <a:rPr lang="en-IN" smtClean="0"/>
              <a:t>21-06-2026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AB9A1F-F8FD-4D8E-BF2F-8F971C4873D0}" type="slidenum">
              <a:rPr lang="en-IN" smtClean="0"/>
              <a:t>‹#›</a:t>
            </a:fld>
            <a:endParaRPr lang="en-IN"/>
          </a:p>
        </p:txBody>
      </p:sp>
      <p:cxnSp>
        <p:nvCxnSpPr>
          <p:cNvPr id="15" name="Straight Connector 14"/>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0314158"/>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844802"/>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009775" y="4023360"/>
            <a:ext cx="10607042" cy="701040"/>
          </a:xfrm>
        </p:spPr>
        <p:txBody>
          <a:bodyPr anchor="ctr">
            <a:normAutofit/>
          </a:bodyPr>
          <a:lstStyle>
            <a:lvl1pPr marL="0" indent="0" algn="r">
              <a:buFontTx/>
              <a:buNone/>
              <a:defRPr sz="240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1554481" y="5212080"/>
            <a:ext cx="11531599"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C37A3-2A5A-4F30-AA49-432104BED4D8}" type="datetimeFigureOut">
              <a:rPr lang="en-IN" smtClean="0"/>
              <a:t>21-06-2026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AB9A1F-F8FD-4D8E-BF2F-8F971C4873D0}" type="slidenum">
              <a:rPr lang="en-IN" smtClean="0"/>
              <a:t>‹#›</a:t>
            </a:fld>
            <a:endParaRPr lang="en-IN"/>
          </a:p>
        </p:txBody>
      </p:sp>
      <p:sp>
        <p:nvSpPr>
          <p:cNvPr id="14" name="TextBox 13"/>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5" name="TextBox 14"/>
          <p:cNvSpPr txBox="1"/>
          <p:nvPr/>
        </p:nvSpPr>
        <p:spPr>
          <a:xfrm>
            <a:off x="12720320" y="3393444"/>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19" name="Straight Connector 18"/>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6309938"/>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54482" y="3970297"/>
            <a:ext cx="11531602" cy="1762560"/>
          </a:xfrm>
        </p:spPr>
        <p:txBody>
          <a:bodyPr anchor="b">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554481" y="5732857"/>
            <a:ext cx="11531602" cy="1032480"/>
          </a:xfrm>
        </p:spPr>
        <p:txBody>
          <a:bodyPr anchor="t">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C37A3-2A5A-4F30-AA49-432104BED4D8}" type="datetimeFigureOut">
              <a:rPr lang="en-IN" smtClean="0"/>
              <a:t>21-06-2026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AB9A1F-F8FD-4D8E-BF2F-8F971C4873D0}" type="slidenum">
              <a:rPr lang="en-IN" smtClean="0"/>
              <a:t>‹#›</a:t>
            </a:fld>
            <a:endParaRPr lang="en-IN"/>
          </a:p>
        </p:txBody>
      </p:sp>
    </p:spTree>
    <p:extLst>
      <p:ext uri="{BB962C8B-B14F-4D97-AF65-F5344CB8AC3E}">
        <p14:creationId xmlns:p14="http://schemas.microsoft.com/office/powerpoint/2010/main" val="3812438185"/>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692402"/>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554481" y="4367174"/>
            <a:ext cx="11531602" cy="1064362"/>
          </a:xfrm>
        </p:spPr>
        <p:txBody>
          <a:bodyPr anchor="b">
            <a:normAutofit/>
          </a:bodyPr>
          <a:lstStyle>
            <a:lvl1pPr marL="0" indent="0" algn="l">
              <a:spcBef>
                <a:spcPts val="0"/>
              </a:spcBef>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54481" y="5435600"/>
            <a:ext cx="11531602" cy="161544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C37A3-2A5A-4F30-AA49-432104BED4D8}" type="datetimeFigureOut">
              <a:rPr lang="en-IN" smtClean="0"/>
              <a:t>21-06-2026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AB9A1F-F8FD-4D8E-BF2F-8F971C4873D0}" type="slidenum">
              <a:rPr lang="en-IN" smtClean="0"/>
              <a:t>‹#›</a:t>
            </a:fld>
            <a:endParaRPr lang="en-IN"/>
          </a:p>
        </p:txBody>
      </p:sp>
      <p:sp>
        <p:nvSpPr>
          <p:cNvPr id="12" name="TextBox 11"/>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3" name="TextBox 12"/>
          <p:cNvSpPr txBox="1"/>
          <p:nvPr/>
        </p:nvSpPr>
        <p:spPr>
          <a:xfrm>
            <a:off x="12720320" y="3119113"/>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26" name="Straight Connector 25"/>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8789634"/>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554481" y="1178558"/>
            <a:ext cx="11531599" cy="26924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554481" y="4356201"/>
            <a:ext cx="11531602" cy="1009498"/>
          </a:xfrm>
        </p:spPr>
        <p:txBody>
          <a:bodyPr anchor="b">
            <a:normAutofit/>
          </a:bodyPr>
          <a:lstStyle>
            <a:lvl1pPr marL="0" indent="0" algn="l">
              <a:spcBef>
                <a:spcPts val="0"/>
              </a:spcBef>
              <a:buNone/>
              <a:defRPr sz="33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54480" y="5364480"/>
            <a:ext cx="11531604" cy="16865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BC37A3-2A5A-4F30-AA49-432104BED4D8}" type="datetimeFigureOut">
              <a:rPr lang="en-IN" smtClean="0"/>
              <a:t>21-06-2026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AB9A1F-F8FD-4D8E-BF2F-8F971C4873D0}" type="slidenum">
              <a:rPr lang="en-IN" smtClean="0"/>
              <a:t>‹#›</a:t>
            </a:fld>
            <a:endParaRPr lang="en-IN"/>
          </a:p>
        </p:txBody>
      </p:sp>
      <p:cxnSp>
        <p:nvCxnSpPr>
          <p:cNvPr id="15" name="Straight Connector 14"/>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1821523"/>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33684"/>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99228" y="1178558"/>
            <a:ext cx="2269074" cy="58724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54478" y="1178558"/>
            <a:ext cx="8919630" cy="587248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BB1C6-BF8F-4481-8AB2-603A1C8A906A}" type="datetimeFigureOut">
              <a:rPr lang="en-US" smtClean="0"/>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4" name="Straight Connector 13"/>
          <p:cNvCxnSpPr/>
          <p:nvPr/>
        </p:nvCxnSpPr>
        <p:spPr>
          <a:xfrm>
            <a:off x="10636668" y="1188720"/>
            <a:ext cx="0" cy="585216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4144783"/>
      </p:ext>
    </p:extLst>
  </p:cSld>
  <p:clrMapOvr>
    <a:masterClrMapping/>
  </p:clrMapOvr>
  <p:transition>
    <p:fade/>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4.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8883" y="0"/>
            <a:ext cx="14675954" cy="8227457"/>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554483" y="1178559"/>
            <a:ext cx="11521435" cy="156464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54481" y="3068319"/>
            <a:ext cx="11521435" cy="3982723"/>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13001" y="7162800"/>
            <a:ext cx="1920240"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B61BEF0D-F0BB-DE4B-95CE-6DB70DBA9567}" type="datetimeFigureOut">
              <a:rPr lang="en-US" dirty="0"/>
              <a:pPr/>
              <a:t>6/21/2026</a:t>
            </a:fld>
            <a:endParaRPr lang="en-US" dirty="0"/>
          </a:p>
        </p:txBody>
      </p:sp>
      <p:sp>
        <p:nvSpPr>
          <p:cNvPr id="5" name="Footer Placeholder 4"/>
          <p:cNvSpPr>
            <a:spLocks noGrp="1"/>
          </p:cNvSpPr>
          <p:nvPr>
            <p:ph type="ftr" sz="quarter" idx="3"/>
          </p:nvPr>
        </p:nvSpPr>
        <p:spPr>
          <a:xfrm>
            <a:off x="1554481" y="7162800"/>
            <a:ext cx="8767080" cy="33528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2424682" y="7162800"/>
            <a:ext cx="651236"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80753172"/>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Lst>
  <p:transition>
    <p:fade/>
  </p:transition>
  <p:hf sldNum="0" hdr="0" ftr="0" dt="0"/>
  <p:txStyles>
    <p:titleStyle>
      <a:lvl1pPr algn="ctr" defTabSz="548640" rtl="0" eaLnBrk="1" latinLnBrk="0" hangingPunct="1">
        <a:spcBef>
          <a:spcPct val="0"/>
        </a:spcBef>
        <a:buNone/>
        <a:defRPr sz="528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accent1"/>
        </a:buClr>
        <a:buSzPct val="115000"/>
        <a:buFont typeface="Arial"/>
        <a:buChar char="•"/>
        <a:defRPr sz="2880" kern="1200" cap="none">
          <a:solidFill>
            <a:schemeClr val="tx1">
              <a:lumMod val="85000"/>
              <a:lumOff val="15000"/>
            </a:schemeClr>
          </a:solidFill>
          <a:effectLst/>
          <a:latin typeface="+mn-lt"/>
          <a:ea typeface="+mn-ea"/>
          <a:cs typeface="+mn-cs"/>
        </a:defRPr>
      </a:lvl1pPr>
      <a:lvl2pPr marL="891540" indent="-342900" algn="l" defTabSz="548640" rtl="0" eaLnBrk="1" latinLnBrk="0" hangingPunct="1">
        <a:spcBef>
          <a:spcPct val="20000"/>
        </a:spcBef>
        <a:spcAft>
          <a:spcPts val="72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2pPr>
      <a:lvl3pPr marL="1440180" indent="-342900" algn="l" defTabSz="548640" rtl="0" eaLnBrk="1" latinLnBrk="0" hangingPunct="1">
        <a:spcBef>
          <a:spcPct val="20000"/>
        </a:spcBef>
        <a:spcAft>
          <a:spcPts val="720"/>
        </a:spcAft>
        <a:buClr>
          <a:schemeClr val="accent1"/>
        </a:buClr>
        <a:buSzPct val="115000"/>
        <a:buFont typeface="Arial"/>
        <a:buChar char="•"/>
        <a:defRPr sz="2160" kern="1200" cap="none">
          <a:solidFill>
            <a:schemeClr val="tx1">
              <a:lumMod val="85000"/>
              <a:lumOff val="15000"/>
            </a:schemeClr>
          </a:solidFill>
          <a:effectLst/>
          <a:latin typeface="+mn-lt"/>
          <a:ea typeface="+mn-ea"/>
          <a:cs typeface="+mn-cs"/>
        </a:defRPr>
      </a:lvl3pPr>
      <a:lvl4pPr marL="1851660" indent="-205740" algn="l" defTabSz="548640" rtl="0" eaLnBrk="1" latinLnBrk="0" hangingPunct="1">
        <a:spcBef>
          <a:spcPct val="20000"/>
        </a:spcBef>
        <a:spcAft>
          <a:spcPts val="720"/>
        </a:spcAft>
        <a:buClr>
          <a:schemeClr val="accent1"/>
        </a:buClr>
        <a:buSzPct val="115000"/>
        <a:buFont typeface="Arial"/>
        <a:buChar char="•"/>
        <a:defRPr sz="1920" kern="1200" cap="none">
          <a:solidFill>
            <a:schemeClr val="tx1">
              <a:lumMod val="85000"/>
              <a:lumOff val="15000"/>
            </a:schemeClr>
          </a:solidFill>
          <a:effectLst/>
          <a:latin typeface="+mn-lt"/>
          <a:ea typeface="+mn-ea"/>
          <a:cs typeface="+mn-cs"/>
        </a:defRPr>
      </a:lvl4pPr>
      <a:lvl5pPr marL="2400300" indent="-20574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5pPr>
      <a:lvl6pPr marL="301752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6pPr>
      <a:lvl7pPr marL="356616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7pPr>
      <a:lvl8pPr marL="411480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8pPr>
      <a:lvl9pPr marL="466344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sv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7.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0.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hyperlink" Target="https://bharatmuseum.netlify.app/" TargetMode="External"/><Relationship Id="rId2" Type="http://schemas.openxmlformats.org/officeDocument/2006/relationships/image" Target="../media/image49.png"/><Relationship Id="rId1" Type="http://schemas.openxmlformats.org/officeDocument/2006/relationships/slideLayout" Target="../slideLayouts/slideLayout12.xml"/><Relationship Id="rId4"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2F1DCC9D-61EF-7759-CE5D-7114C4C0D362}"/>
              </a:ext>
            </a:extLst>
          </p:cNvPr>
          <p:cNvPicPr>
            <a:picLocks noChangeAspect="1"/>
          </p:cNvPicPr>
          <p:nvPr/>
        </p:nvPicPr>
        <p:blipFill>
          <a:blip r:embed="rId2"/>
          <a:stretch>
            <a:fillRect/>
          </a:stretch>
        </p:blipFill>
        <p:spPr>
          <a:xfrm>
            <a:off x="602429" y="660652"/>
            <a:ext cx="12849870" cy="7140289"/>
          </a:xfrm>
          <a:prstGeom prst="rect">
            <a:avLst/>
          </a:prstGeom>
        </p:spPr>
      </p:pic>
      <p:sp>
        <p:nvSpPr>
          <p:cNvPr id="19" name="Title 1">
            <a:extLst>
              <a:ext uri="{FF2B5EF4-FFF2-40B4-BE49-F238E27FC236}">
                <a16:creationId xmlns:a16="http://schemas.microsoft.com/office/drawing/2014/main" id="{C9914610-8802-6F56-5050-6FCEE13B1D87}"/>
              </a:ext>
            </a:extLst>
          </p:cNvPr>
          <p:cNvSpPr txBox="1">
            <a:spLocks/>
          </p:cNvSpPr>
          <p:nvPr/>
        </p:nvSpPr>
        <p:spPr>
          <a:xfrm>
            <a:off x="2029635" y="2934617"/>
            <a:ext cx="10283807" cy="1934817"/>
          </a:xfrm>
          <a:prstGeom prst="rect">
            <a:avLst/>
          </a:prstGeom>
        </p:spPr>
        <p:txBody>
          <a:bodyP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rgbClr val="002060"/>
                </a:solidFill>
                <a:latin typeface="Times New Roman" panose="02020603050405020304" pitchFamily="18" charset="0"/>
                <a:cs typeface="Times New Roman" panose="02020603050405020304" pitchFamily="18" charset="0"/>
              </a:rPr>
              <a:t>“Bharat Museum Tickets- A </a:t>
            </a:r>
            <a:r>
              <a:rPr lang="en-US" sz="3600" b="1" i="1" dirty="0" err="1">
                <a:solidFill>
                  <a:srgbClr val="002060"/>
                </a:solidFill>
                <a:latin typeface="Times New Roman" panose="02020603050405020304" pitchFamily="18" charset="0"/>
                <a:cs typeface="Times New Roman" panose="02020603050405020304" pitchFamily="18" charset="0"/>
              </a:rPr>
              <a:t>ChatBot</a:t>
            </a:r>
            <a:r>
              <a:rPr lang="en-US" sz="3600" b="1" i="1" dirty="0">
                <a:solidFill>
                  <a:srgbClr val="002060"/>
                </a:solidFill>
                <a:latin typeface="Times New Roman" panose="02020603050405020304" pitchFamily="18" charset="0"/>
                <a:cs typeface="Times New Roman" panose="02020603050405020304" pitchFamily="18" charset="0"/>
              </a:rPr>
              <a:t> Based Ticketing System”</a:t>
            </a:r>
            <a:endParaRPr lang="en-US" sz="3600" b="1" i="1" cap="all" dirty="0">
              <a:ln w="0"/>
              <a:solidFill>
                <a:srgbClr val="002060"/>
              </a:solidFill>
              <a:effectLst>
                <a:reflection blurRad="12700" stA="50000" endPos="50000" dist="5000" dir="5400000" sy="-100000" rotWithShape="0"/>
              </a:effectLst>
              <a:latin typeface="Times New Roman" panose="02020603050405020304" pitchFamily="18" charset="0"/>
              <a:cs typeface="Times New Roman" panose="02020603050405020304" pitchFamily="18" charset="0"/>
            </a:endParaRPr>
          </a:p>
        </p:txBody>
      </p:sp>
      <p:sp>
        <p:nvSpPr>
          <p:cNvPr id="20" name="Subtitle 2">
            <a:extLst>
              <a:ext uri="{FF2B5EF4-FFF2-40B4-BE49-F238E27FC236}">
                <a16:creationId xmlns:a16="http://schemas.microsoft.com/office/drawing/2014/main" id="{7607B045-1933-CDD6-43B1-D6CBBE5843BA}"/>
              </a:ext>
            </a:extLst>
          </p:cNvPr>
          <p:cNvSpPr txBox="1">
            <a:spLocks/>
          </p:cNvSpPr>
          <p:nvPr/>
        </p:nvSpPr>
        <p:spPr>
          <a:xfrm>
            <a:off x="2937962" y="5637271"/>
            <a:ext cx="8178803" cy="1584962"/>
          </a:xfrm>
          <a:prstGeom prst="rect">
            <a:avLst/>
          </a:prstGeom>
        </p:spPr>
        <p:txBody>
          <a:bodyPr>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b="1" dirty="0">
              <a:latin typeface="Times New Roman" pitchFamily="18" charset="0"/>
              <a:cs typeface="Times New Roman" pitchFamily="18" charset="0"/>
            </a:endParaRPr>
          </a:p>
          <a:p>
            <a:pPr marL="0" indent="0" algn="ctr">
              <a:buNone/>
            </a:pPr>
            <a:r>
              <a:rPr lang="en-US" b="1" dirty="0">
                <a:latin typeface="Times New Roman" pitchFamily="18" charset="0"/>
                <a:cs typeface="Times New Roman" pitchFamily="18" charset="0"/>
              </a:rPr>
              <a:t>Submitted in </a:t>
            </a:r>
          </a:p>
          <a:p>
            <a:pPr marL="0" indent="0" algn="ctr">
              <a:buNone/>
            </a:pPr>
            <a:r>
              <a:rPr lang="en-US" b="1" dirty="0">
                <a:latin typeface="Times New Roman" pitchFamily="18" charset="0"/>
                <a:cs typeface="Times New Roman" pitchFamily="18" charset="0"/>
              </a:rPr>
              <a:t>Partial Fulfillment for the Degree of</a:t>
            </a:r>
          </a:p>
          <a:p>
            <a:pPr marL="0" indent="0" algn="ctr">
              <a:buNone/>
            </a:pPr>
            <a:r>
              <a:rPr lang="en-US" b="1" dirty="0">
                <a:latin typeface="Times New Roman" pitchFamily="18" charset="0"/>
                <a:cs typeface="Times New Roman" pitchFamily="18" charset="0"/>
              </a:rPr>
              <a:t>Bachelor of Technology</a:t>
            </a:r>
          </a:p>
        </p:txBody>
      </p:sp>
      <p:sp>
        <p:nvSpPr>
          <p:cNvPr id="21" name="Title 1">
            <a:extLst>
              <a:ext uri="{FF2B5EF4-FFF2-40B4-BE49-F238E27FC236}">
                <a16:creationId xmlns:a16="http://schemas.microsoft.com/office/drawing/2014/main" id="{B35A8DDD-9FB3-C40E-39C6-EADEBA6BE987}"/>
              </a:ext>
            </a:extLst>
          </p:cNvPr>
          <p:cNvSpPr txBox="1">
            <a:spLocks/>
          </p:cNvSpPr>
          <p:nvPr/>
        </p:nvSpPr>
        <p:spPr>
          <a:xfrm>
            <a:off x="2325471" y="1330149"/>
            <a:ext cx="9692136" cy="2194560"/>
          </a:xfrm>
          <a:prstGeom prst="rect">
            <a:avLst/>
          </a:prstGeom>
        </p:spPr>
        <p:txBody>
          <a:bodyPr vert="horz" lIns="109728" tIns="54864" rIns="109728" bIns="54864" rtlCol="0" anchor="ctr">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spcBef>
                <a:spcPct val="0"/>
              </a:spcBef>
            </a:pPr>
            <a:r>
              <a:rPr lang="en-US" sz="3200" b="1" dirty="0">
                <a:latin typeface="Times New Roman" pitchFamily="18" charset="0"/>
                <a:cs typeface="Times New Roman" pitchFamily="18" charset="0"/>
              </a:rPr>
              <a:t>TECHNO INSTITUTE OF ENGINEERING &amp; MANAGEMENT </a:t>
            </a:r>
          </a:p>
          <a:p>
            <a:pPr algn="ctr">
              <a:spcBef>
                <a:spcPct val="0"/>
              </a:spcBef>
            </a:pPr>
            <a:r>
              <a:rPr lang="en-US" dirty="0">
                <a:latin typeface="Times New Roman" pitchFamily="18" charset="0"/>
                <a:cs typeface="Times New Roman" pitchFamily="18" charset="0"/>
              </a:rPr>
              <a:t>Banipur College Road, Banipur, Habra, West Bengal 743233</a:t>
            </a:r>
            <a:endParaRPr lang="en-US" b="1" dirty="0">
              <a:latin typeface="Times New Roman" pitchFamily="18" charset="0"/>
              <a:cs typeface="Times New Roman" pitchFamily="18" charset="0"/>
            </a:endParaRPr>
          </a:p>
          <a:p>
            <a:pPr algn="ctr" defTabSz="1097280">
              <a:spcBef>
                <a:spcPct val="0"/>
              </a:spcBef>
              <a:defRPr/>
            </a:pPr>
            <a:br>
              <a:rPr lang="en-US" sz="1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j-lt"/>
                <a:ea typeface="+mj-ea"/>
                <a:cs typeface="+mj-cs"/>
              </a:rPr>
            </a:br>
            <a:endParaRPr lang="en-US" sz="1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j-lt"/>
              <a:ea typeface="+mj-ea"/>
              <a:cs typeface="+mj-cs"/>
            </a:endParaRPr>
          </a:p>
        </p:txBody>
      </p:sp>
      <p:pic>
        <p:nvPicPr>
          <p:cNvPr id="26" name="Picture 25">
            <a:extLst>
              <a:ext uri="{FF2B5EF4-FFF2-40B4-BE49-F238E27FC236}">
                <a16:creationId xmlns:a16="http://schemas.microsoft.com/office/drawing/2014/main" id="{5E45CE8D-0016-444E-5A0E-1FD740AD943A}"/>
              </a:ext>
            </a:extLst>
          </p:cNvPr>
          <p:cNvPicPr>
            <a:picLocks noChangeAspect="1"/>
          </p:cNvPicPr>
          <p:nvPr/>
        </p:nvPicPr>
        <p:blipFill>
          <a:blip r:embed="rId3"/>
          <a:stretch>
            <a:fillRect/>
          </a:stretch>
        </p:blipFill>
        <p:spPr>
          <a:xfrm>
            <a:off x="1829878" y="4230796"/>
            <a:ext cx="10483563" cy="339206"/>
          </a:xfrm>
          <a:prstGeom prst="rect">
            <a:avLst/>
          </a:prstGeom>
        </p:spPr>
      </p:pic>
      <p:pic>
        <p:nvPicPr>
          <p:cNvPr id="22" name="Picture 21">
            <a:extLst>
              <a:ext uri="{FF2B5EF4-FFF2-40B4-BE49-F238E27FC236}">
                <a16:creationId xmlns:a16="http://schemas.microsoft.com/office/drawing/2014/main" id="{6D9AD228-A811-D9FD-7EBB-B84F41BEE197}"/>
              </a:ext>
            </a:extLst>
          </p:cNvPr>
          <p:cNvPicPr>
            <a:picLocks noChangeAspect="1"/>
          </p:cNvPicPr>
          <p:nvPr/>
        </p:nvPicPr>
        <p:blipFill>
          <a:blip r:embed="rId4"/>
          <a:stretch>
            <a:fillRect/>
          </a:stretch>
        </p:blipFill>
        <p:spPr>
          <a:xfrm>
            <a:off x="6187285" y="4090977"/>
            <a:ext cx="1968506" cy="179897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B7C815-8178-EA2B-9573-0D4176D04182}"/>
              </a:ext>
            </a:extLst>
          </p:cNvPr>
          <p:cNvPicPr>
            <a:picLocks noChangeAspect="1"/>
          </p:cNvPicPr>
          <p:nvPr/>
        </p:nvPicPr>
        <p:blipFill>
          <a:blip r:embed="rId2"/>
          <a:stretch>
            <a:fillRect/>
          </a:stretch>
        </p:blipFill>
        <p:spPr>
          <a:xfrm>
            <a:off x="1549101" y="2643436"/>
            <a:ext cx="11495669" cy="476316"/>
          </a:xfrm>
          <a:prstGeom prst="rect">
            <a:avLst/>
          </a:prstGeom>
        </p:spPr>
      </p:pic>
      <p:sp>
        <p:nvSpPr>
          <p:cNvPr id="2" name="Title 1"/>
          <p:cNvSpPr>
            <a:spLocks noGrp="1"/>
          </p:cNvSpPr>
          <p:nvPr>
            <p:ph type="title"/>
          </p:nvPr>
        </p:nvSpPr>
        <p:spPr>
          <a:xfrm>
            <a:off x="1005840" y="1052760"/>
            <a:ext cx="12618720" cy="1590676"/>
          </a:xfrm>
        </p:spPr>
        <p:txBody>
          <a:bodyPr>
            <a:normAutofit/>
          </a:bodyPr>
          <a:lstStyle/>
          <a:p>
            <a:pPr algn="ctr"/>
            <a:r>
              <a:rPr lang="en-US" sz="4400" b="1" i="1" dirty="0">
                <a:solidFill>
                  <a:srgbClr val="002060"/>
                </a:solidFill>
                <a:latin typeface="Times New Roman" pitchFamily="18" charset="0"/>
                <a:cs typeface="Times New Roman" pitchFamily="18" charset="0"/>
              </a:rPr>
              <a:t>Submitted by:</a:t>
            </a:r>
            <a:br>
              <a:rPr lang="en-US" b="1" dirty="0">
                <a:latin typeface="Times New Roman" pitchFamily="18" charset="0"/>
                <a:cs typeface="Times New Roman" pitchFamily="18" charset="0"/>
              </a:rPr>
            </a:b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920240" y="4214565"/>
            <a:ext cx="10789920" cy="2743200"/>
          </a:xfrm>
        </p:spPr>
        <p:txBody>
          <a:bodyPr>
            <a:normAutofit fontScale="85000" lnSpcReduction="10000"/>
          </a:bodyPr>
          <a:lstStyle/>
          <a:p>
            <a:pPr marL="0" indent="0">
              <a:buNone/>
            </a:pPr>
            <a:br>
              <a:rPr lang="en-IN" dirty="0"/>
            </a:br>
            <a:endParaRPr lang="en-US" dirty="0">
              <a:latin typeface="Times New Roman" pitchFamily="18" charset="0"/>
              <a:cs typeface="Times New Roman" pitchFamily="18" charset="0"/>
            </a:endParaRPr>
          </a:p>
          <a:p>
            <a:pPr algn="ctr">
              <a:buNone/>
            </a:pPr>
            <a:r>
              <a:rPr lang="en-US" dirty="0">
                <a:latin typeface="Times New Roman" pitchFamily="18" charset="0"/>
                <a:cs typeface="Times New Roman" pitchFamily="18" charset="0"/>
              </a:rPr>
              <a:t>Under the supervision of</a:t>
            </a:r>
          </a:p>
          <a:p>
            <a:pPr algn="ctr">
              <a:buNone/>
            </a:pPr>
            <a:r>
              <a:rPr lang="en-US" b="1" dirty="0">
                <a:latin typeface="Times New Roman" pitchFamily="18" charset="0"/>
                <a:cs typeface="Times New Roman" pitchFamily="18" charset="0"/>
              </a:rPr>
              <a:t>Mr. Sujit Raha</a:t>
            </a:r>
          </a:p>
          <a:p>
            <a:pPr algn="ctr">
              <a:buNone/>
            </a:pPr>
            <a:r>
              <a:rPr lang="en-US" b="1" dirty="0">
                <a:solidFill>
                  <a:srgbClr val="0070C0"/>
                </a:solidFill>
                <a:latin typeface="Times New Roman" pitchFamily="18" charset="0"/>
                <a:cs typeface="Times New Roman" pitchFamily="18" charset="0"/>
              </a:rPr>
              <a:t>Department of Computer Science &amp; Engineering </a:t>
            </a:r>
          </a:p>
          <a:p>
            <a:pPr algn="ctr">
              <a:buNone/>
            </a:pPr>
            <a:r>
              <a:rPr lang="en-US" sz="2400" b="1" dirty="0">
                <a:latin typeface="Times New Roman" pitchFamily="18" charset="0"/>
                <a:cs typeface="Times New Roman" pitchFamily="18" charset="0"/>
              </a:rPr>
              <a:t>TECHNO INSTITUTE OF ENGINEERING &amp; MANAGEMENT</a:t>
            </a:r>
          </a:p>
          <a:p>
            <a:pPr algn="ctr">
              <a:buNone/>
            </a:pPr>
            <a:endParaRPr lang="en-US" b="1" dirty="0">
              <a:solidFill>
                <a:srgbClr val="0070C0"/>
              </a:solidFill>
            </a:endParaRPr>
          </a:p>
          <a:p>
            <a:pPr>
              <a:buNone/>
            </a:pPr>
            <a:endParaRPr lang="en-US" dirty="0"/>
          </a:p>
          <a:p>
            <a:pPr>
              <a:buNone/>
            </a:pPr>
            <a:endParaRPr lang="en-US" dirty="0"/>
          </a:p>
        </p:txBody>
      </p:sp>
      <p:graphicFrame>
        <p:nvGraphicFramePr>
          <p:cNvPr id="4" name="Table 3">
            <a:extLst>
              <a:ext uri="{FF2B5EF4-FFF2-40B4-BE49-F238E27FC236}">
                <a16:creationId xmlns:a16="http://schemas.microsoft.com/office/drawing/2014/main" id="{9162763F-821F-59C0-FF62-176E4D79F5BE}"/>
              </a:ext>
            </a:extLst>
          </p:cNvPr>
          <p:cNvGraphicFramePr>
            <a:graphicFrameLocks noGrp="1"/>
          </p:cNvGraphicFramePr>
          <p:nvPr>
            <p:extLst>
              <p:ext uri="{D42A27DB-BD31-4B8C-83A1-F6EECF244321}">
                <p14:modId xmlns:p14="http://schemas.microsoft.com/office/powerpoint/2010/main" val="1849489239"/>
              </p:ext>
            </p:extLst>
          </p:nvPr>
        </p:nvGraphicFramePr>
        <p:xfrm>
          <a:off x="2956560" y="2101922"/>
          <a:ext cx="9753600" cy="2743200"/>
        </p:xfrm>
        <a:graphic>
          <a:graphicData uri="http://schemas.openxmlformats.org/drawingml/2006/table">
            <a:tbl>
              <a:tblPr firstRow="1" bandRow="1">
                <a:tableStyleId>{2D5ABB26-0587-4C30-8999-92F81FD0307C}</a:tableStyleId>
              </a:tblPr>
              <a:tblGrid>
                <a:gridCol w="3251200">
                  <a:extLst>
                    <a:ext uri="{9D8B030D-6E8A-4147-A177-3AD203B41FA5}">
                      <a16:colId xmlns:a16="http://schemas.microsoft.com/office/drawing/2014/main" val="2803963626"/>
                    </a:ext>
                  </a:extLst>
                </a:gridCol>
                <a:gridCol w="3251200">
                  <a:extLst>
                    <a:ext uri="{9D8B030D-6E8A-4147-A177-3AD203B41FA5}">
                      <a16:colId xmlns:a16="http://schemas.microsoft.com/office/drawing/2014/main" val="3224359157"/>
                    </a:ext>
                  </a:extLst>
                </a:gridCol>
                <a:gridCol w="3251200">
                  <a:extLst>
                    <a:ext uri="{9D8B030D-6E8A-4147-A177-3AD203B41FA5}">
                      <a16:colId xmlns:a16="http://schemas.microsoft.com/office/drawing/2014/main" val="1850006225"/>
                    </a:ext>
                  </a:extLst>
                </a:gridCol>
              </a:tblGrid>
              <a:tr h="370840">
                <a:tc>
                  <a:txBody>
                    <a:bodyPr/>
                    <a:lstStyle/>
                    <a:p>
                      <a:r>
                        <a:rPr lang="en-US" sz="2400" b="1" dirty="0">
                          <a:solidFill>
                            <a:srgbClr val="FF0000"/>
                          </a:solidFill>
                          <a:latin typeface="Times New Roman" panose="02020603050405020304" pitchFamily="18" charset="0"/>
                          <a:cs typeface="Times New Roman" panose="02020603050405020304" pitchFamily="18" charset="0"/>
                        </a:rPr>
                        <a:t>Name</a:t>
                      </a:r>
                      <a:endParaRPr lang="en-IN"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Roll No</a:t>
                      </a:r>
                      <a:endParaRPr lang="en-IN"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Registration No</a:t>
                      </a:r>
                      <a:endParaRPr lang="en-IN" sz="2400" b="1"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2504388"/>
                  </a:ext>
                </a:extLst>
              </a:tr>
              <a:tr h="370840">
                <a:tc>
                  <a:txBody>
                    <a:bodyPr/>
                    <a:lstStyle/>
                    <a:p>
                      <a:r>
                        <a:rPr lang="en-IN" sz="2400" b="1" u="none" strike="noStrike" kern="1200" dirty="0">
                          <a:solidFill>
                            <a:schemeClr val="tx1"/>
                          </a:solidFill>
                          <a:effectLst/>
                          <a:latin typeface="Times New Roman" panose="02020603050405020304" pitchFamily="18" charset="0"/>
                          <a:cs typeface="Times New Roman" panose="02020603050405020304" pitchFamily="18" charset="0"/>
                        </a:rPr>
                        <a:t>Soumita Gupta</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24400122085</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2400" b="0" u="none" strike="noStrike" kern="1200" dirty="0">
                          <a:solidFill>
                            <a:schemeClr val="tx1"/>
                          </a:solidFill>
                          <a:effectLst/>
                          <a:latin typeface="Times New Roman" panose="02020603050405020304" pitchFamily="18" charset="0"/>
                          <a:cs typeface="Times New Roman" panose="02020603050405020304" pitchFamily="18" charset="0"/>
                        </a:rPr>
                        <a:t>222440110074 </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489500"/>
                  </a:ext>
                </a:extLst>
              </a:tr>
              <a:tr h="370840">
                <a:tc>
                  <a:txBody>
                    <a:bodyPr/>
                    <a:lstStyle/>
                    <a:p>
                      <a:r>
                        <a:rPr lang="en-IN" sz="2400" b="1" u="none" strike="noStrike" kern="1200" dirty="0">
                          <a:solidFill>
                            <a:schemeClr val="dk1"/>
                          </a:solidFill>
                          <a:effectLst/>
                          <a:latin typeface="Times New Roman" panose="02020603050405020304" pitchFamily="18" charset="0"/>
                          <a:cs typeface="Times New Roman" panose="02020603050405020304" pitchFamily="18" charset="0"/>
                        </a:rPr>
                        <a:t>Souvik Gon</a:t>
                      </a:r>
                      <a:r>
                        <a:rPr lang="en-IN" sz="2400" b="0" u="none" strike="noStrike" kern="1200" dirty="0">
                          <a:solidFill>
                            <a:schemeClr val="dk1"/>
                          </a:solidFill>
                          <a:effectLst/>
                          <a:latin typeface="Times New Roman" panose="02020603050405020304" pitchFamily="18" charset="0"/>
                          <a:cs typeface="Times New Roman" panose="02020603050405020304" pitchFamily="18" charset="0"/>
                        </a:rPr>
                        <a:t> </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24400122050</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2400" b="0" u="none" strike="noStrike" kern="1200" dirty="0">
                          <a:solidFill>
                            <a:schemeClr val="tx1"/>
                          </a:solidFill>
                          <a:effectLst/>
                          <a:latin typeface="Times New Roman" panose="02020603050405020304" pitchFamily="18" charset="0"/>
                          <a:cs typeface="Times New Roman" panose="02020603050405020304" pitchFamily="18" charset="0"/>
                        </a:rPr>
                        <a:t>222440110080 </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6769569"/>
                  </a:ext>
                </a:extLst>
              </a:tr>
              <a:tr h="370840">
                <a:tc>
                  <a:txBody>
                    <a:bodyPr/>
                    <a:lstStyle/>
                    <a:p>
                      <a:r>
                        <a:rPr lang="en-IN" sz="2400" b="1" u="none" strike="noStrike" kern="1200" dirty="0">
                          <a:solidFill>
                            <a:schemeClr val="dk1"/>
                          </a:solidFill>
                          <a:effectLst/>
                          <a:latin typeface="Times New Roman" panose="02020603050405020304" pitchFamily="18" charset="0"/>
                          <a:cs typeface="Times New Roman" panose="02020603050405020304" pitchFamily="18" charset="0"/>
                        </a:rPr>
                        <a:t>Sulagna Ghosh</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24400122042</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IN" sz="2400" b="0" u="none" strike="noStrike" kern="1200" dirty="0">
                          <a:solidFill>
                            <a:schemeClr val="tx1"/>
                          </a:solidFill>
                          <a:effectLst/>
                          <a:latin typeface="Times New Roman" panose="02020603050405020304" pitchFamily="18" charset="0"/>
                          <a:cs typeface="Times New Roman" panose="02020603050405020304" pitchFamily="18" charset="0"/>
                        </a:rPr>
                        <a:t>222440110089 </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9680299"/>
                  </a:ext>
                </a:extLst>
              </a:tr>
              <a:tr h="370840">
                <a:tc>
                  <a:txBody>
                    <a:bodyPr/>
                    <a:lstStyle/>
                    <a:p>
                      <a:r>
                        <a:rPr lang="en-IN" sz="2400" b="1" u="none" strike="noStrike" kern="1200" dirty="0">
                          <a:solidFill>
                            <a:schemeClr val="dk1"/>
                          </a:solidFill>
                          <a:effectLst/>
                          <a:latin typeface="Times New Roman" panose="02020603050405020304" pitchFamily="18" charset="0"/>
                          <a:cs typeface="Times New Roman" panose="02020603050405020304" pitchFamily="18" charset="0"/>
                        </a:rPr>
                        <a:t>Debanjan Paul</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24400122009</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2400" b="0" u="none" strike="noStrike" kern="1200" dirty="0">
                          <a:solidFill>
                            <a:schemeClr val="tx1"/>
                          </a:solidFill>
                          <a:effectLst/>
                          <a:latin typeface="Times New Roman" panose="02020603050405020304" pitchFamily="18" charset="0"/>
                          <a:cs typeface="Times New Roman" panose="02020603050405020304" pitchFamily="18" charset="0"/>
                        </a:rPr>
                        <a:t> 222440110021</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4707011"/>
                  </a:ext>
                </a:extLst>
              </a:tr>
              <a:tr h="370840">
                <a:tc>
                  <a:txBody>
                    <a:bodyPr/>
                    <a:lstStyle/>
                    <a:p>
                      <a:r>
                        <a:rPr lang="en-IN" sz="2400" b="1" u="none" strike="noStrike" kern="1200" dirty="0">
                          <a:solidFill>
                            <a:schemeClr val="dk1"/>
                          </a:solidFill>
                          <a:effectLst/>
                          <a:latin typeface="Times New Roman" panose="02020603050405020304" pitchFamily="18" charset="0"/>
                          <a:cs typeface="Times New Roman" panose="02020603050405020304" pitchFamily="18" charset="0"/>
                        </a:rPr>
                        <a:t>Dipon Biswas</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24400122062</a:t>
                      </a:r>
                      <a:endParaRPr lang="en-IN"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2400" b="0" u="none" strike="noStrike" kern="1200" dirty="0">
                          <a:solidFill>
                            <a:schemeClr val="tx1"/>
                          </a:solidFill>
                          <a:effectLst/>
                          <a:latin typeface="Times New Roman" panose="02020603050405020304" pitchFamily="18" charset="0"/>
                          <a:cs typeface="Times New Roman" panose="02020603050405020304" pitchFamily="18" charset="0"/>
                        </a:rPr>
                        <a:t>222440110025 </a:t>
                      </a:r>
                      <a:endParaRPr lang="en-IN"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5141110"/>
                  </a:ext>
                </a:extLst>
              </a:tr>
            </a:tbl>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09696" y="2068116"/>
            <a:ext cx="9565824" cy="2046684"/>
          </a:xfrm>
          <a:prstGeom prst="rect">
            <a:avLst/>
          </a:prstGeom>
          <a:noFill/>
          <a:ln/>
        </p:spPr>
        <p:txBody>
          <a:bodyPr wrap="square" lIns="0" tIns="0" rIns="0" bIns="0" rtlCol="0" anchor="t"/>
          <a:lstStyle/>
          <a:p>
            <a:pPr marL="0" indent="0" algn="l">
              <a:lnSpc>
                <a:spcPts val="5350"/>
              </a:lnSpc>
              <a:buNone/>
            </a:pPr>
            <a:r>
              <a:rPr lang="en-US" sz="4000" b="1" dirty="0">
                <a:solidFill>
                  <a:srgbClr val="002060"/>
                </a:solidFill>
                <a:latin typeface="Times New Roman" panose="02020603050405020304" pitchFamily="18" charset="0"/>
                <a:ea typeface="Petrona Bold" pitchFamily="34" charset="-122"/>
                <a:cs typeface="Times New Roman" panose="02020603050405020304" pitchFamily="18" charset="0"/>
              </a:rPr>
              <a:t>Bharat Museum Tickets- Chatbot Based Ticketing System</a:t>
            </a:r>
            <a:endParaRPr lang="en-US" sz="4000" dirty="0">
              <a:solidFill>
                <a:srgbClr val="002060"/>
              </a:solidFill>
              <a:latin typeface="Times New Roman" panose="02020603050405020304" pitchFamily="18" charset="0"/>
              <a:cs typeface="Times New Roman" panose="02020603050405020304" pitchFamily="18" charset="0"/>
            </a:endParaRPr>
          </a:p>
        </p:txBody>
      </p:sp>
      <p:sp>
        <p:nvSpPr>
          <p:cNvPr id="4" name="Text 1"/>
          <p:cNvSpPr/>
          <p:nvPr/>
        </p:nvSpPr>
        <p:spPr>
          <a:xfrm>
            <a:off x="309696" y="4114800"/>
            <a:ext cx="8436271" cy="2382819"/>
          </a:xfrm>
          <a:prstGeom prst="rect">
            <a:avLst/>
          </a:prstGeom>
          <a:noFill/>
          <a:ln/>
        </p:spPr>
        <p:txBody>
          <a:bodyPr wrap="square" lIns="0" tIns="0" rIns="0" bIns="0" rtlCol="0" anchor="t"/>
          <a:lstStyle/>
          <a:p>
            <a:pPr marL="0" indent="0" algn="just">
              <a:lnSpc>
                <a:spcPct val="150000"/>
              </a:lnSpc>
              <a:buNone/>
            </a:pPr>
            <a:r>
              <a:rPr lang="en-US" sz="2400" i="1" dirty="0">
                <a:solidFill>
                  <a:srgbClr val="272525"/>
                </a:solidFill>
                <a:latin typeface="Times New Roman" panose="02020603050405020304" pitchFamily="18" charset="0"/>
                <a:ea typeface="Inter" pitchFamily="34" charset="-122"/>
                <a:cs typeface="Times New Roman" panose="02020603050405020304" pitchFamily="18" charset="0"/>
              </a:rPr>
              <a:t>Transforming museum visitor management through artificial intelligence, and </a:t>
            </a:r>
            <a:r>
              <a:rPr lang="en-US" sz="2400" b="1" i="1" dirty="0">
                <a:solidFill>
                  <a:srgbClr val="272525"/>
                </a:solidFill>
                <a:latin typeface="Times New Roman" panose="02020603050405020304" pitchFamily="18" charset="0"/>
                <a:ea typeface="Inter" pitchFamily="34" charset="-122"/>
                <a:cs typeface="Times New Roman" panose="02020603050405020304" pitchFamily="18" charset="0"/>
              </a:rPr>
              <a:t>IoT integration </a:t>
            </a:r>
            <a:r>
              <a:rPr lang="en-US" sz="2400" i="1" dirty="0">
                <a:solidFill>
                  <a:srgbClr val="272525"/>
                </a:solidFill>
                <a:latin typeface="Times New Roman" panose="02020603050405020304" pitchFamily="18" charset="0"/>
                <a:ea typeface="Inter" pitchFamily="34" charset="-122"/>
                <a:cs typeface="Times New Roman" panose="02020603050405020304" pitchFamily="18" charset="0"/>
              </a:rPr>
              <a:t>for enhanced accessibility and operational excellence.</a:t>
            </a:r>
            <a:endParaRPr lang="en-US" sz="2400" i="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6619F55-3E9E-581B-A544-590D40D1A160}"/>
              </a:ext>
            </a:extLst>
          </p:cNvPr>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2551747" y="665054"/>
            <a:ext cx="5198031" cy="649724"/>
          </a:xfrm>
          <a:prstGeom prst="rect">
            <a:avLst/>
          </a:prstGeom>
          <a:noFill/>
          <a:ln/>
        </p:spPr>
        <p:txBody>
          <a:bodyPr wrap="none" lIns="0" tIns="0" rIns="0" bIns="0" rtlCol="0" anchor="t"/>
          <a:lstStyle/>
          <a:p>
            <a:pPr marL="0" indent="0" algn="l">
              <a:lnSpc>
                <a:spcPts val="5100"/>
              </a:lnSpc>
              <a:buNone/>
            </a:pPr>
            <a:r>
              <a:rPr lang="en-US" sz="72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Introduction</a:t>
            </a:r>
            <a:endParaRPr lang="en-US" sz="7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Text 1"/>
          <p:cNvSpPr/>
          <p:nvPr/>
        </p:nvSpPr>
        <p:spPr>
          <a:xfrm>
            <a:off x="756047" y="1774627"/>
            <a:ext cx="4394716" cy="2721769"/>
          </a:xfrm>
          <a:prstGeom prst="rect">
            <a:avLst/>
          </a:prstGeom>
          <a:noFill/>
          <a:ln/>
        </p:spPr>
        <p:txBody>
          <a:bodyPr wrap="square" lIns="0" tIns="0" rIns="0" bIns="0" rtlCol="0" anchor="t"/>
          <a:lstStyle/>
          <a:p>
            <a:pPr algn="just">
              <a:lnSpc>
                <a:spcPts val="2350"/>
              </a:lnSpc>
            </a:pPr>
            <a:r>
              <a:rPr lang="en-US" dirty="0">
                <a:latin typeface="Times New Roman" panose="02020603050405020304" pitchFamily="18" charset="0"/>
                <a:cs typeface="Times New Roman" panose="02020603050405020304" pitchFamily="18" charset="0"/>
              </a:rPr>
              <a:t>Digital transformation in Travel and Tourism has increased the need for smart, automated systems to improve visitor experience and make ticketing faster and easier. Traditional ticket counters often cause long queues, errors, limited service hours, and accessibility issues, especially for visually impaired or non-tech-savvy visitors.</a:t>
            </a:r>
          </a:p>
        </p:txBody>
      </p:sp>
      <p:sp>
        <p:nvSpPr>
          <p:cNvPr id="5" name="Text 2"/>
          <p:cNvSpPr/>
          <p:nvPr/>
        </p:nvSpPr>
        <p:spPr>
          <a:xfrm>
            <a:off x="756047" y="4666417"/>
            <a:ext cx="4394716" cy="2721769"/>
          </a:xfrm>
          <a:prstGeom prst="rect">
            <a:avLst/>
          </a:prstGeom>
          <a:noFill/>
          <a:ln/>
        </p:spPr>
        <p:txBody>
          <a:bodyPr wrap="square" lIns="0" tIns="0" rIns="0" bIns="0" rtlCol="0" anchor="t"/>
          <a:lstStyle/>
          <a:p>
            <a:pPr marL="0" indent="0" algn="just">
              <a:lnSpc>
                <a:spcPts val="23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An </a:t>
            </a:r>
            <a:r>
              <a:rPr lang="en-US" b="1" dirty="0">
                <a:solidFill>
                  <a:srgbClr val="272525"/>
                </a:solidFill>
                <a:latin typeface="Times New Roman" panose="02020603050405020304" pitchFamily="18" charset="0"/>
                <a:ea typeface="Inter" pitchFamily="34" charset="-122"/>
                <a:cs typeface="Times New Roman" panose="02020603050405020304" pitchFamily="18" charset="0"/>
              </a:rPr>
              <a:t>online museum ticketing system integrated with an intelligent chatbot</a:t>
            </a:r>
            <a:r>
              <a:rPr lang="en-US" dirty="0">
                <a:solidFill>
                  <a:srgbClr val="272525"/>
                </a:solidFill>
                <a:latin typeface="Times New Roman" panose="02020603050405020304" pitchFamily="18" charset="0"/>
                <a:ea typeface="Inter" pitchFamily="34" charset="-122"/>
                <a:cs typeface="Times New Roman" panose="02020603050405020304" pitchFamily="18" charset="0"/>
              </a:rPr>
              <a:t> offers a modern, scalable, and visitor-centric solution. This system eliminates long queues at ticket counters and enables museums to manage visitor flow more effectively through 24/7 accessibility, secure online payments, automated confirmation, and easy cancellation or rescheduling.</a:t>
            </a:r>
            <a:endParaRPr lang="en-US" dirty="0">
              <a:latin typeface="Times New Roman" panose="02020603050405020304" pitchFamily="18" charset="0"/>
              <a:cs typeface="Times New Roman" panose="02020603050405020304" pitchFamily="18" charset="0"/>
            </a:endParaRPr>
          </a:p>
        </p:txBody>
      </p:sp>
      <p:sp>
        <p:nvSpPr>
          <p:cNvPr id="6" name="Shape 3"/>
          <p:cNvSpPr/>
          <p:nvPr/>
        </p:nvSpPr>
        <p:spPr>
          <a:xfrm>
            <a:off x="5619393" y="1817251"/>
            <a:ext cx="2776061" cy="1511737"/>
          </a:xfrm>
          <a:prstGeom prst="roundRect">
            <a:avLst>
              <a:gd name="adj" fmla="val 5252"/>
            </a:avLst>
          </a:prstGeom>
          <a:solidFill>
            <a:srgbClr val="E0D7F4"/>
          </a:solidFill>
          <a:ln w="7620">
            <a:solidFill>
              <a:srgbClr val="C6BDDA"/>
            </a:solidFill>
            <a:prstDash val="solid"/>
          </a:ln>
        </p:spPr>
      </p:sp>
      <p:sp>
        <p:nvSpPr>
          <p:cNvPr id="7" name="Text 4"/>
          <p:cNvSpPr/>
          <p:nvPr/>
        </p:nvSpPr>
        <p:spPr>
          <a:xfrm>
            <a:off x="5815965" y="2013823"/>
            <a:ext cx="2382917" cy="324802"/>
          </a:xfrm>
          <a:prstGeom prst="rect">
            <a:avLst/>
          </a:prstGeom>
          <a:noFill/>
          <a:ln/>
        </p:spPr>
        <p:txBody>
          <a:bodyPr wrap="none" lIns="0" tIns="0" rIns="0" bIns="0" rtlCol="0" anchor="t"/>
          <a:lstStyle/>
          <a:p>
            <a:pPr marL="0" indent="0" algn="l">
              <a:lnSpc>
                <a:spcPts val="255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24/7 Access</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5815965" y="2527578"/>
            <a:ext cx="2382917" cy="60483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Times New Roman" panose="02020603050405020304" pitchFamily="18" charset="0"/>
                <a:ea typeface="Inter" pitchFamily="34" charset="-122"/>
                <a:cs typeface="Times New Roman" panose="02020603050405020304" pitchFamily="18" charset="0"/>
              </a:rPr>
              <a:t>Book tickets anytime, anywhere</a:t>
            </a:r>
            <a:endParaRPr lang="en-US" sz="1450" dirty="0">
              <a:latin typeface="Times New Roman" panose="02020603050405020304" pitchFamily="18" charset="0"/>
              <a:cs typeface="Times New Roman" panose="02020603050405020304" pitchFamily="18" charset="0"/>
            </a:endParaRPr>
          </a:p>
        </p:txBody>
      </p:sp>
      <p:sp>
        <p:nvSpPr>
          <p:cNvPr id="9" name="Shape 6"/>
          <p:cNvSpPr/>
          <p:nvPr/>
        </p:nvSpPr>
        <p:spPr>
          <a:xfrm>
            <a:off x="5619393" y="3754611"/>
            <a:ext cx="2776061" cy="1209318"/>
          </a:xfrm>
          <a:prstGeom prst="roundRect">
            <a:avLst>
              <a:gd name="adj" fmla="val 6565"/>
            </a:avLst>
          </a:prstGeom>
          <a:solidFill>
            <a:srgbClr val="E0D7F4"/>
          </a:solidFill>
          <a:ln w="7620">
            <a:solidFill>
              <a:srgbClr val="C6BDDA"/>
            </a:solidFill>
            <a:prstDash val="solid"/>
          </a:ln>
        </p:spPr>
      </p:sp>
      <p:sp>
        <p:nvSpPr>
          <p:cNvPr id="10" name="Text 7"/>
          <p:cNvSpPr/>
          <p:nvPr/>
        </p:nvSpPr>
        <p:spPr>
          <a:xfrm>
            <a:off x="5815965" y="3951183"/>
            <a:ext cx="2382917" cy="324802"/>
          </a:xfrm>
          <a:prstGeom prst="rect">
            <a:avLst/>
          </a:prstGeom>
          <a:noFill/>
          <a:ln/>
        </p:spPr>
        <p:txBody>
          <a:bodyPr wrap="none" lIns="0" tIns="0" rIns="0" bIns="0" rtlCol="0" anchor="t"/>
          <a:lstStyle/>
          <a:p>
            <a:pPr marL="0" indent="0" algn="l">
              <a:lnSpc>
                <a:spcPts val="255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Zero Queues</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5815965" y="4464938"/>
            <a:ext cx="2382917" cy="302419"/>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Times New Roman" panose="02020603050405020304" pitchFamily="18" charset="0"/>
                <a:ea typeface="Inter" pitchFamily="34" charset="-122"/>
                <a:cs typeface="Times New Roman" panose="02020603050405020304" pitchFamily="18" charset="0"/>
              </a:rPr>
              <a:t>Instant digital confirmation</a:t>
            </a:r>
            <a:endParaRPr lang="en-US" sz="1450" dirty="0">
              <a:latin typeface="Times New Roman" panose="02020603050405020304" pitchFamily="18" charset="0"/>
              <a:cs typeface="Times New Roman" panose="02020603050405020304" pitchFamily="18" charset="0"/>
            </a:endParaRPr>
          </a:p>
        </p:txBody>
      </p:sp>
      <p:sp>
        <p:nvSpPr>
          <p:cNvPr id="12" name="Shape 9"/>
          <p:cNvSpPr/>
          <p:nvPr/>
        </p:nvSpPr>
        <p:spPr>
          <a:xfrm>
            <a:off x="5619393" y="5349963"/>
            <a:ext cx="2776061" cy="1354676"/>
          </a:xfrm>
          <a:prstGeom prst="roundRect">
            <a:avLst>
              <a:gd name="adj" fmla="val 6565"/>
            </a:avLst>
          </a:prstGeom>
          <a:solidFill>
            <a:srgbClr val="E0D7F4"/>
          </a:solidFill>
          <a:ln w="7620">
            <a:solidFill>
              <a:srgbClr val="C6BDDA"/>
            </a:solidFill>
            <a:prstDash val="solid"/>
          </a:ln>
        </p:spPr>
        <p:txBody>
          <a:bodyPr/>
          <a:lstStyle/>
          <a:p>
            <a:endParaRPr lang="en-IN" dirty="0"/>
          </a:p>
        </p:txBody>
      </p:sp>
      <p:sp>
        <p:nvSpPr>
          <p:cNvPr id="13" name="Text 10"/>
          <p:cNvSpPr/>
          <p:nvPr/>
        </p:nvSpPr>
        <p:spPr>
          <a:xfrm>
            <a:off x="5899309" y="5422642"/>
            <a:ext cx="2382917" cy="324802"/>
          </a:xfrm>
          <a:prstGeom prst="rect">
            <a:avLst/>
          </a:prstGeom>
          <a:noFill/>
          <a:ln/>
        </p:spPr>
        <p:txBody>
          <a:bodyPr wrap="none" lIns="0" tIns="0" rIns="0" bIns="0" rtlCol="0" anchor="t"/>
          <a:lstStyle/>
          <a:p>
            <a:pPr marL="0" indent="0" algn="l">
              <a:lnSpc>
                <a:spcPts val="255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Smart AI</a:t>
            </a:r>
            <a:endParaRPr lang="en-US" sz="2000" dirty="0">
              <a:latin typeface="Times New Roman" panose="02020603050405020304" pitchFamily="18" charset="0"/>
              <a:cs typeface="Times New Roman" panose="02020603050405020304" pitchFamily="18" charset="0"/>
            </a:endParaRPr>
          </a:p>
        </p:txBody>
      </p:sp>
      <p:sp>
        <p:nvSpPr>
          <p:cNvPr id="14" name="Text 11"/>
          <p:cNvSpPr/>
          <p:nvPr/>
        </p:nvSpPr>
        <p:spPr>
          <a:xfrm>
            <a:off x="5899309" y="5670348"/>
            <a:ext cx="2382917" cy="302419"/>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Times New Roman" panose="02020603050405020304" pitchFamily="18" charset="0"/>
                <a:ea typeface="Inter" pitchFamily="34" charset="-122"/>
                <a:cs typeface="Times New Roman" panose="02020603050405020304" pitchFamily="18" charset="0"/>
              </a:rPr>
              <a:t>Real-time assistance</a:t>
            </a:r>
          </a:p>
          <a:p>
            <a:pPr marL="0" indent="0" algn="l">
              <a:lnSpc>
                <a:spcPts val="2350"/>
              </a:lnSpc>
              <a:buNone/>
            </a:pPr>
            <a:r>
              <a:rPr lang="en-US" sz="1450" dirty="0">
                <a:solidFill>
                  <a:srgbClr val="272525"/>
                </a:solidFill>
                <a:latin typeface="Times New Roman" panose="02020603050405020304" pitchFamily="18" charset="0"/>
                <a:ea typeface="Inter" pitchFamily="34" charset="-122"/>
                <a:cs typeface="Times New Roman" panose="02020603050405020304" pitchFamily="18" charset="0"/>
              </a:rPr>
              <a:t>Virtual Guide</a:t>
            </a:r>
          </a:p>
          <a:p>
            <a:pPr marL="0" indent="0" algn="l">
              <a:lnSpc>
                <a:spcPts val="2350"/>
              </a:lnSpc>
              <a:buNone/>
            </a:pPr>
            <a:r>
              <a:rPr lang="en-US" sz="1450" dirty="0" err="1">
                <a:solidFill>
                  <a:srgbClr val="272525"/>
                </a:solidFill>
                <a:latin typeface="Times New Roman" panose="02020603050405020304" pitchFamily="18" charset="0"/>
                <a:ea typeface="Inter" pitchFamily="34" charset="-122"/>
                <a:cs typeface="Times New Roman" panose="02020603050405020304" pitchFamily="18" charset="0"/>
              </a:rPr>
              <a:t>ChatBot</a:t>
            </a:r>
            <a:r>
              <a:rPr lang="en-US" sz="1450" dirty="0">
                <a:solidFill>
                  <a:srgbClr val="272525"/>
                </a:solidFill>
                <a:latin typeface="Times New Roman" panose="02020603050405020304" pitchFamily="18" charset="0"/>
                <a:ea typeface="Inter" pitchFamily="34" charset="-122"/>
                <a:cs typeface="Times New Roman" panose="02020603050405020304" pitchFamily="18" charset="0"/>
              </a:rPr>
              <a:t> Based Ticketing</a:t>
            </a:r>
          </a:p>
          <a:p>
            <a:pPr marL="0" indent="0" algn="l">
              <a:lnSpc>
                <a:spcPts val="2350"/>
              </a:lnSpc>
              <a:buNone/>
            </a:pPr>
            <a:endParaRPr lang="en-US" sz="145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F891B04-7F5C-3551-7A47-5C3A6992C75F}"/>
              </a:ext>
            </a:extLst>
          </p:cNvPr>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76593" y="616743"/>
            <a:ext cx="4218919" cy="827247"/>
          </a:xfrm>
          <a:prstGeom prst="rect">
            <a:avLst/>
          </a:prstGeom>
          <a:noFill/>
          <a:ln/>
        </p:spPr>
        <p:txBody>
          <a:bodyPr wrap="none" lIns="0" tIns="0" rIns="0" bIns="0" rtlCol="0" anchor="t"/>
          <a:lstStyle/>
          <a:p>
            <a:pPr marL="0" indent="0" algn="l">
              <a:lnSpc>
                <a:spcPts val="4600"/>
              </a:lnSpc>
              <a:buNone/>
            </a:pPr>
            <a:r>
              <a:rPr lang="en-US" sz="66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Motivation</a:t>
            </a:r>
            <a:endParaRPr lang="en-US" sz="66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895" y="1450777"/>
            <a:ext cx="427434" cy="427434"/>
          </a:xfrm>
          <a:prstGeom prst="rect">
            <a:avLst/>
          </a:prstGeom>
        </p:spPr>
      </p:pic>
      <p:sp>
        <p:nvSpPr>
          <p:cNvPr id="4" name="Text 1"/>
          <p:cNvSpPr/>
          <p:nvPr/>
        </p:nvSpPr>
        <p:spPr>
          <a:xfrm>
            <a:off x="683895" y="2091928"/>
            <a:ext cx="2351246"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Multilingual Support</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683895" y="2488287"/>
            <a:ext cx="6524387"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Museums attract visitors from diverse cultural and linguistic backgrounds. A multilingual chatbot allows users to interact in their preferred language, ensuring inclusivity and better understanding while reducing confusion during booking.</a:t>
            </a:r>
            <a:endParaRPr lang="en-US" sz="16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21999" y="1450777"/>
            <a:ext cx="427434" cy="427434"/>
          </a:xfrm>
          <a:prstGeom prst="rect">
            <a:avLst/>
          </a:prstGeom>
        </p:spPr>
      </p:pic>
      <p:sp>
        <p:nvSpPr>
          <p:cNvPr id="7" name="Text 3"/>
          <p:cNvSpPr/>
          <p:nvPr/>
        </p:nvSpPr>
        <p:spPr>
          <a:xfrm>
            <a:off x="7421999" y="2091928"/>
            <a:ext cx="2351246"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Omnichannel Access</a:t>
            </a:r>
            <a:endParaRPr lang="en-US" sz="2400" dirty="0">
              <a:latin typeface="Times New Roman" panose="02020603050405020304" pitchFamily="18" charset="0"/>
              <a:cs typeface="Times New Roman" panose="02020603050405020304" pitchFamily="18" charset="0"/>
            </a:endParaRPr>
          </a:p>
        </p:txBody>
      </p:sp>
      <p:sp>
        <p:nvSpPr>
          <p:cNvPr id="8" name="Text 4"/>
          <p:cNvSpPr/>
          <p:nvPr/>
        </p:nvSpPr>
        <p:spPr>
          <a:xfrm>
            <a:off x="7421999" y="2488287"/>
            <a:ext cx="6524506"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Modern users expect flexibility in how they access services. Integration of web, mobile, and chat interfaces ensures seamless and consistent experiences across all platforms, increasing reach and convenience.</a:t>
            </a:r>
            <a:endParaRPr lang="en-US" sz="16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3895" y="3650694"/>
            <a:ext cx="427434" cy="427434"/>
          </a:xfrm>
          <a:prstGeom prst="rect">
            <a:avLst/>
          </a:prstGeom>
        </p:spPr>
      </p:pic>
      <p:sp>
        <p:nvSpPr>
          <p:cNvPr id="10" name="Text 5"/>
          <p:cNvSpPr/>
          <p:nvPr/>
        </p:nvSpPr>
        <p:spPr>
          <a:xfrm>
            <a:off x="683895" y="4291846"/>
            <a:ext cx="2422327"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Automated Processing</a:t>
            </a:r>
            <a:endParaRPr lang="en-US" sz="2400" dirty="0">
              <a:latin typeface="Times New Roman" panose="02020603050405020304" pitchFamily="18" charset="0"/>
              <a:cs typeface="Times New Roman" panose="02020603050405020304" pitchFamily="18" charset="0"/>
            </a:endParaRPr>
          </a:p>
        </p:txBody>
      </p:sp>
      <p:sp>
        <p:nvSpPr>
          <p:cNvPr id="11" name="Text 6"/>
          <p:cNvSpPr/>
          <p:nvPr/>
        </p:nvSpPr>
        <p:spPr>
          <a:xfrm>
            <a:off x="683895" y="4688205"/>
            <a:ext cx="6524387"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Manual ticketing methods are time-consuming and prone to errors. Automation ensures smooth booking, secure payments, instant confirmations, and digital ticket delivery while reducing queues and eliminating manual intervention.</a:t>
            </a:r>
            <a:endParaRPr lang="en-US" sz="1600"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21999" y="3650694"/>
            <a:ext cx="427434" cy="427434"/>
          </a:xfrm>
          <a:prstGeom prst="rect">
            <a:avLst/>
          </a:prstGeom>
        </p:spPr>
      </p:pic>
      <p:sp>
        <p:nvSpPr>
          <p:cNvPr id="13" name="Text 7"/>
          <p:cNvSpPr/>
          <p:nvPr/>
        </p:nvSpPr>
        <p:spPr>
          <a:xfrm>
            <a:off x="7421999" y="4291846"/>
            <a:ext cx="2644378"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Personalized Experience</a:t>
            </a:r>
            <a:endParaRPr lang="en-US" sz="2400" dirty="0">
              <a:latin typeface="Times New Roman" panose="02020603050405020304" pitchFamily="18" charset="0"/>
              <a:cs typeface="Times New Roman" panose="02020603050405020304" pitchFamily="18" charset="0"/>
            </a:endParaRPr>
          </a:p>
        </p:txBody>
      </p:sp>
      <p:sp>
        <p:nvSpPr>
          <p:cNvPr id="14" name="Text 8"/>
          <p:cNvSpPr/>
          <p:nvPr/>
        </p:nvSpPr>
        <p:spPr>
          <a:xfrm>
            <a:off x="7421999" y="4688205"/>
            <a:ext cx="6524506"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AI-driven insights recommend exhibitions, guided tours, preferred visiting times, and special events tailored to individual interests, enhancing engagement and encouraging repeat visits.</a:t>
            </a:r>
            <a:endParaRPr lang="en-US" sz="1600" dirty="0">
              <a:latin typeface="Times New Roman" panose="02020603050405020304" pitchFamily="18" charset="0"/>
              <a:cs typeface="Times New Roman" panose="02020603050405020304" pitchFamily="18" charset="0"/>
            </a:endParaRPr>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3895" y="5850612"/>
            <a:ext cx="427434" cy="427434"/>
          </a:xfrm>
          <a:prstGeom prst="rect">
            <a:avLst/>
          </a:prstGeom>
        </p:spPr>
      </p:pic>
      <p:sp>
        <p:nvSpPr>
          <p:cNvPr id="16" name="Text 9"/>
          <p:cNvSpPr/>
          <p:nvPr/>
        </p:nvSpPr>
        <p:spPr>
          <a:xfrm>
            <a:off x="683895" y="6491764"/>
            <a:ext cx="2351246"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Real-Time Assistance</a:t>
            </a:r>
            <a:endParaRPr lang="en-US" sz="2400" dirty="0">
              <a:latin typeface="Times New Roman" panose="02020603050405020304" pitchFamily="18" charset="0"/>
              <a:cs typeface="Times New Roman" panose="02020603050405020304" pitchFamily="18" charset="0"/>
            </a:endParaRPr>
          </a:p>
        </p:txBody>
      </p:sp>
      <p:sp>
        <p:nvSpPr>
          <p:cNvPr id="17" name="Text 10"/>
          <p:cNvSpPr/>
          <p:nvPr/>
        </p:nvSpPr>
        <p:spPr>
          <a:xfrm>
            <a:off x="683895" y="6888123"/>
            <a:ext cx="6524387"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Chatbot provides instant information regarding ticket availability, prices, timings, and discounts without human involvement, ensuring 24/7 support and improved responsiveness.</a:t>
            </a:r>
            <a:endParaRPr lang="en-US" sz="1600" dirty="0">
              <a:latin typeface="Times New Roman" panose="02020603050405020304" pitchFamily="18" charset="0"/>
              <a:cs typeface="Times New Roman" panose="02020603050405020304" pitchFamily="18" charset="0"/>
            </a:endParaRPr>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21999" y="5850612"/>
            <a:ext cx="427434" cy="427434"/>
          </a:xfrm>
          <a:prstGeom prst="rect">
            <a:avLst/>
          </a:prstGeom>
        </p:spPr>
      </p:pic>
      <p:sp>
        <p:nvSpPr>
          <p:cNvPr id="19" name="Text 11"/>
          <p:cNvSpPr/>
          <p:nvPr/>
        </p:nvSpPr>
        <p:spPr>
          <a:xfrm>
            <a:off x="7421999" y="6491764"/>
            <a:ext cx="2351246" cy="293846"/>
          </a:xfrm>
          <a:prstGeom prst="rect">
            <a:avLst/>
          </a:prstGeom>
          <a:noFill/>
          <a:ln/>
        </p:spPr>
        <p:txBody>
          <a:bodyPr wrap="none" lIns="0" tIns="0" rIns="0" bIns="0" rtlCol="0" anchor="t"/>
          <a:lstStyle/>
          <a:p>
            <a:pPr marL="0" indent="0" algn="l">
              <a:lnSpc>
                <a:spcPts val="23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Data-Driven Insights</a:t>
            </a:r>
            <a:endParaRPr lang="en-US" sz="2400" dirty="0">
              <a:latin typeface="Times New Roman" panose="02020603050405020304" pitchFamily="18" charset="0"/>
              <a:cs typeface="Times New Roman" panose="02020603050405020304" pitchFamily="18" charset="0"/>
            </a:endParaRPr>
          </a:p>
        </p:txBody>
      </p:sp>
      <p:sp>
        <p:nvSpPr>
          <p:cNvPr id="20" name="Text 12"/>
          <p:cNvSpPr/>
          <p:nvPr/>
        </p:nvSpPr>
        <p:spPr>
          <a:xfrm>
            <a:off x="7421999" y="6888123"/>
            <a:ext cx="6524506" cy="820460"/>
          </a:xfrm>
          <a:prstGeom prst="rect">
            <a:avLst/>
          </a:prstGeom>
          <a:noFill/>
          <a:ln/>
        </p:spPr>
        <p:txBody>
          <a:bodyPr wrap="square" lIns="0" tIns="0" rIns="0" bIns="0" rtlCol="0" anchor="t"/>
          <a:lstStyle/>
          <a:p>
            <a:pPr marL="0" indent="0" algn="l">
              <a:lnSpc>
                <a:spcPts val="21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System collects valuable visitor data including booking patterns, peak hours, demographics, and popular exhibits, supporting informed decision-making for pricing strategies and exhibition planning.</a:t>
            </a:r>
            <a:endParaRPr lang="en-US" sz="1600"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7E9DAC98-979C-097B-34BF-903A59962A8E}"/>
              </a:ext>
            </a:extLst>
          </p:cNvPr>
          <p:cNvPicPr>
            <a:picLocks noChangeAspect="1"/>
          </p:cNvPicPr>
          <p:nvPr/>
        </p:nvPicPr>
        <p:blipFill>
          <a:blip r:embed="rId9"/>
          <a:stretch>
            <a:fillRect/>
          </a:stretch>
        </p:blipFill>
        <p:spPr>
          <a:xfrm>
            <a:off x="12755453" y="7784202"/>
            <a:ext cx="1867062" cy="34293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11750" y="253764"/>
            <a:ext cx="4194572" cy="524232"/>
          </a:xfrm>
          <a:prstGeom prst="rect">
            <a:avLst/>
          </a:prstGeom>
          <a:noFill/>
          <a:ln/>
        </p:spPr>
        <p:txBody>
          <a:bodyPr wrap="none" lIns="0" tIns="0" rIns="0" bIns="0" rtlCol="0" anchor="t"/>
          <a:lstStyle/>
          <a:p>
            <a:pPr marL="0" indent="0" algn="l">
              <a:lnSpc>
                <a:spcPts val="4100"/>
              </a:lnSpc>
              <a:buNone/>
            </a:pPr>
            <a:r>
              <a:rPr lang="en-US" sz="48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Objectives</a:t>
            </a:r>
            <a:endParaRPr lang="en-US" sz="48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423148" y="831935"/>
            <a:ext cx="4582001" cy="550618"/>
          </a:xfrm>
          <a:prstGeom prst="rect">
            <a:avLst/>
          </a:prstGeom>
        </p:spPr>
      </p:pic>
      <p:sp>
        <p:nvSpPr>
          <p:cNvPr id="4" name="Text 1"/>
          <p:cNvSpPr/>
          <p:nvPr/>
        </p:nvSpPr>
        <p:spPr>
          <a:xfrm>
            <a:off x="442078" y="1635826"/>
            <a:ext cx="2304693" cy="189905"/>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AI-Powered Multilingual Chatbot</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463675" y="1937355"/>
            <a:ext cx="4256948" cy="1008233"/>
          </a:xfrm>
          <a:prstGeom prst="rect">
            <a:avLst/>
          </a:prstGeom>
          <a:noFill/>
          <a:ln/>
        </p:spPr>
        <p:txBody>
          <a:bodyPr wrap="square" lIns="0" tIns="0" rIns="0" bIns="0" rtlCol="0" anchor="t"/>
          <a:lstStyle/>
          <a:p>
            <a:r>
              <a:rPr lang="en-US" dirty="0">
                <a:latin typeface="Times New Roman" panose="02020603050405020304" pitchFamily="18" charset="0"/>
                <a:cs typeface="Times New Roman" panose="02020603050405020304" pitchFamily="18" charset="0"/>
              </a:rPr>
              <a:t>Develop a multilingual AI chatbot that handles visitor inquiries, bookings, and real-time assistance as a unified communication interface.</a:t>
            </a:r>
          </a:p>
          <a:p>
            <a:pPr marL="0" indent="0" algn="l">
              <a:lnSpc>
                <a:spcPts val="1350"/>
              </a:lnSpc>
              <a:buNone/>
            </a:pPr>
            <a:endParaRPr lang="en-US"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9735743" y="831935"/>
            <a:ext cx="4582120" cy="524232"/>
          </a:xfrm>
          <a:prstGeom prst="rect">
            <a:avLst/>
          </a:prstGeom>
        </p:spPr>
      </p:pic>
      <p:sp>
        <p:nvSpPr>
          <p:cNvPr id="7" name="Text 3"/>
          <p:cNvSpPr/>
          <p:nvPr/>
        </p:nvSpPr>
        <p:spPr>
          <a:xfrm>
            <a:off x="9968173" y="1660963"/>
            <a:ext cx="2004655" cy="189905"/>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Automated Ticketing System</a:t>
            </a:r>
            <a:endParaRPr lang="en-US" sz="2400" dirty="0">
              <a:latin typeface="Times New Roman" panose="02020603050405020304" pitchFamily="18" charset="0"/>
              <a:cs typeface="Times New Roman" panose="02020603050405020304" pitchFamily="18" charset="0"/>
            </a:endParaRPr>
          </a:p>
        </p:txBody>
      </p:sp>
      <p:sp>
        <p:nvSpPr>
          <p:cNvPr id="8" name="Text 4"/>
          <p:cNvSpPr/>
          <p:nvPr/>
        </p:nvSpPr>
        <p:spPr>
          <a:xfrm>
            <a:off x="9968173" y="1917065"/>
            <a:ext cx="4361140" cy="783109"/>
          </a:xfrm>
          <a:prstGeom prst="rect">
            <a:avLst/>
          </a:prstGeom>
          <a:noFill/>
          <a:ln/>
        </p:spPr>
        <p:txBody>
          <a:bodyPr wrap="square" lIns="0" tIns="0" rIns="0" bIns="0" rtlCol="0" anchor="t"/>
          <a:lstStyle/>
          <a:p>
            <a:r>
              <a:rPr lang="en-US" dirty="0">
                <a:latin typeface="Times New Roman" panose="02020603050405020304" pitchFamily="18" charset="0"/>
                <a:cs typeface="Times New Roman" panose="02020603050405020304" pitchFamily="18" charset="0"/>
              </a:rPr>
              <a:t>Automate end-to-end ticket booking with user authentication, museum search, availability checks, secure payments, and instant ticket generation.</a:t>
            </a:r>
          </a:p>
        </p:txBody>
      </p:sp>
      <p:pic>
        <p:nvPicPr>
          <p:cNvPr id="9" name="Image 2" descr="preencoded.png"/>
          <p:cNvPicPr>
            <a:picLocks noChangeAspect="1"/>
          </p:cNvPicPr>
          <p:nvPr/>
        </p:nvPicPr>
        <p:blipFill>
          <a:blip r:embed="rId5"/>
          <a:stretch>
            <a:fillRect/>
          </a:stretch>
        </p:blipFill>
        <p:spPr>
          <a:xfrm>
            <a:off x="5043133" y="831935"/>
            <a:ext cx="4582120" cy="524232"/>
          </a:xfrm>
          <a:prstGeom prst="rect">
            <a:avLst/>
          </a:prstGeom>
        </p:spPr>
      </p:pic>
      <p:sp>
        <p:nvSpPr>
          <p:cNvPr id="10" name="Text 5"/>
          <p:cNvSpPr/>
          <p:nvPr/>
        </p:nvSpPr>
        <p:spPr>
          <a:xfrm>
            <a:off x="5153623" y="1617268"/>
            <a:ext cx="2028587" cy="189905"/>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Enhanced Visitor Experience</a:t>
            </a:r>
            <a:endParaRPr lang="en-US" sz="2400" dirty="0">
              <a:latin typeface="Times New Roman" panose="02020603050405020304" pitchFamily="18" charset="0"/>
              <a:cs typeface="Times New Roman" panose="02020603050405020304" pitchFamily="18" charset="0"/>
            </a:endParaRPr>
          </a:p>
        </p:txBody>
      </p:sp>
      <p:sp>
        <p:nvSpPr>
          <p:cNvPr id="11" name="Text 6"/>
          <p:cNvSpPr/>
          <p:nvPr/>
        </p:nvSpPr>
        <p:spPr>
          <a:xfrm>
            <a:off x="5215895" y="1873370"/>
            <a:ext cx="4361140" cy="1063287"/>
          </a:xfrm>
          <a:prstGeom prst="rect">
            <a:avLst/>
          </a:prstGeom>
          <a:noFill/>
          <a:ln/>
        </p:spPr>
        <p:txBody>
          <a:bodyPr wrap="square" lIns="0" tIns="0" rIns="0" bIns="0" rtlCol="0" anchor="t"/>
          <a:lstStyle/>
          <a:p>
            <a:r>
              <a:rPr lang="en-US" dirty="0">
                <a:latin typeface="Times New Roman" panose="02020603050405020304" pitchFamily="18" charset="0"/>
                <a:cs typeface="Times New Roman" panose="02020603050405020304" pitchFamily="18" charset="0"/>
              </a:rPr>
              <a:t>Integrate smart features including virtual guides, video tours, personalized recommendations, and voice-based accessibility support for visually impaired visitors.</a:t>
            </a:r>
          </a:p>
        </p:txBody>
      </p:sp>
      <p:sp>
        <p:nvSpPr>
          <p:cNvPr id="12" name="Shape 7"/>
          <p:cNvSpPr/>
          <p:nvPr/>
        </p:nvSpPr>
        <p:spPr>
          <a:xfrm>
            <a:off x="442078" y="3504706"/>
            <a:ext cx="8809497" cy="1306957"/>
          </a:xfrm>
          <a:prstGeom prst="roundRect">
            <a:avLst>
              <a:gd name="adj" fmla="val 5128"/>
            </a:avLst>
          </a:prstGeom>
          <a:solidFill>
            <a:srgbClr val="FDFAF7"/>
          </a:solidFill>
          <a:ln w="15240">
            <a:solidFill>
              <a:srgbClr val="C6BDDA"/>
            </a:solidFill>
            <a:prstDash val="solid"/>
          </a:ln>
        </p:spPr>
      </p:sp>
      <p:sp>
        <p:nvSpPr>
          <p:cNvPr id="13" name="Text 8"/>
          <p:cNvSpPr/>
          <p:nvPr/>
        </p:nvSpPr>
        <p:spPr>
          <a:xfrm>
            <a:off x="567809" y="3735005"/>
            <a:ext cx="2806058" cy="274181"/>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Real-Time Crowd Management</a:t>
            </a:r>
            <a:endParaRPr lang="en-US" sz="2400" dirty="0">
              <a:latin typeface="Times New Roman" panose="02020603050405020304" pitchFamily="18" charset="0"/>
              <a:cs typeface="Times New Roman" panose="02020603050405020304" pitchFamily="18" charset="0"/>
            </a:endParaRPr>
          </a:p>
        </p:txBody>
      </p:sp>
      <p:sp>
        <p:nvSpPr>
          <p:cNvPr id="14" name="Text 9"/>
          <p:cNvSpPr/>
          <p:nvPr/>
        </p:nvSpPr>
        <p:spPr>
          <a:xfrm>
            <a:off x="567809" y="3984365"/>
            <a:ext cx="8480746" cy="510201"/>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Collect and analyze visitor data to monitor crowd density, peak hours, and optimize staffing decisions for improved safety and visitor flow.</a:t>
            </a:r>
            <a:endParaRPr lang="en-US" dirty="0">
              <a:latin typeface="Times New Roman" panose="02020603050405020304" pitchFamily="18" charset="0"/>
              <a:cs typeface="Times New Roman" panose="02020603050405020304" pitchFamily="18" charset="0"/>
            </a:endParaRPr>
          </a:p>
        </p:txBody>
      </p:sp>
      <p:sp>
        <p:nvSpPr>
          <p:cNvPr id="15" name="Shape 10"/>
          <p:cNvSpPr/>
          <p:nvPr/>
        </p:nvSpPr>
        <p:spPr>
          <a:xfrm>
            <a:off x="442078" y="5157416"/>
            <a:ext cx="8809497" cy="1306957"/>
          </a:xfrm>
          <a:prstGeom prst="roundRect">
            <a:avLst>
              <a:gd name="adj" fmla="val 5128"/>
            </a:avLst>
          </a:prstGeom>
          <a:solidFill>
            <a:srgbClr val="FDFAF7"/>
          </a:solidFill>
          <a:ln w="15240">
            <a:solidFill>
              <a:srgbClr val="C6BDDA"/>
            </a:solidFill>
            <a:prstDash val="solid"/>
          </a:ln>
        </p:spPr>
      </p:sp>
      <p:sp>
        <p:nvSpPr>
          <p:cNvPr id="16" name="Text 11"/>
          <p:cNvSpPr/>
          <p:nvPr/>
        </p:nvSpPr>
        <p:spPr>
          <a:xfrm>
            <a:off x="567809" y="5439225"/>
            <a:ext cx="2024340" cy="274181"/>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Security &amp; Integration</a:t>
            </a:r>
            <a:endParaRPr lang="en-US" sz="2400" dirty="0">
              <a:latin typeface="Times New Roman" panose="02020603050405020304" pitchFamily="18" charset="0"/>
              <a:cs typeface="Times New Roman" panose="02020603050405020304" pitchFamily="18" charset="0"/>
            </a:endParaRPr>
          </a:p>
        </p:txBody>
      </p:sp>
      <p:sp>
        <p:nvSpPr>
          <p:cNvPr id="17" name="Text 12"/>
          <p:cNvSpPr/>
          <p:nvPr/>
        </p:nvSpPr>
        <p:spPr>
          <a:xfrm>
            <a:off x="567809" y="5667073"/>
            <a:ext cx="8480746" cy="510201"/>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Ensure secure transactions, reliable cloud infrastructure, seamless database integration, and error-free automated workflows for system stability.</a:t>
            </a:r>
            <a:endParaRPr lang="en-US" dirty="0">
              <a:latin typeface="Times New Roman" panose="02020603050405020304" pitchFamily="18" charset="0"/>
              <a:cs typeface="Times New Roman" panose="02020603050405020304" pitchFamily="18" charset="0"/>
            </a:endParaRPr>
          </a:p>
        </p:txBody>
      </p:sp>
      <p:sp>
        <p:nvSpPr>
          <p:cNvPr id="18" name="Shape 13"/>
          <p:cNvSpPr/>
          <p:nvPr/>
        </p:nvSpPr>
        <p:spPr>
          <a:xfrm>
            <a:off x="442078" y="6614204"/>
            <a:ext cx="8809497" cy="1306957"/>
          </a:xfrm>
          <a:prstGeom prst="roundRect">
            <a:avLst>
              <a:gd name="adj" fmla="val 5128"/>
            </a:avLst>
          </a:prstGeom>
          <a:solidFill>
            <a:srgbClr val="FDFAF7"/>
          </a:solidFill>
          <a:ln w="15240">
            <a:solidFill>
              <a:srgbClr val="C6BDDA"/>
            </a:solidFill>
            <a:prstDash val="solid"/>
          </a:ln>
        </p:spPr>
      </p:sp>
      <p:sp>
        <p:nvSpPr>
          <p:cNvPr id="19" name="Text 14"/>
          <p:cNvSpPr/>
          <p:nvPr/>
        </p:nvSpPr>
        <p:spPr>
          <a:xfrm>
            <a:off x="567809" y="6820715"/>
            <a:ext cx="2705501" cy="274181"/>
          </a:xfrm>
          <a:prstGeom prst="rect">
            <a:avLst/>
          </a:prstGeom>
          <a:noFill/>
          <a:ln/>
        </p:spPr>
        <p:txBody>
          <a:bodyPr wrap="none" lIns="0" tIns="0" rIns="0" bIns="0" rtlCol="0" anchor="t"/>
          <a:lstStyle/>
          <a:p>
            <a:pPr marL="0" indent="0" algn="l">
              <a:lnSpc>
                <a:spcPts val="145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Cost &amp; Environmental Impact</a:t>
            </a:r>
            <a:endParaRPr lang="en-US" sz="2400" dirty="0">
              <a:latin typeface="Times New Roman" panose="02020603050405020304" pitchFamily="18" charset="0"/>
              <a:cs typeface="Times New Roman" panose="02020603050405020304" pitchFamily="18" charset="0"/>
            </a:endParaRPr>
          </a:p>
        </p:txBody>
      </p:sp>
      <p:sp>
        <p:nvSpPr>
          <p:cNvPr id="20" name="Text 15"/>
          <p:cNvSpPr/>
          <p:nvPr/>
        </p:nvSpPr>
        <p:spPr>
          <a:xfrm>
            <a:off x="567809" y="7048563"/>
            <a:ext cx="8480746" cy="510201"/>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Minimize manual labor, paper-based ticketing, and energy usage while promoting eco-friendly, paperless operations and reducing operational costs.</a:t>
            </a:r>
            <a:endParaRPr lang="en-US" dirty="0">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r:embed="rId6"/>
          <a:stretch>
            <a:fillRect/>
          </a:stretch>
        </p:blipFill>
        <p:spPr>
          <a:xfrm>
            <a:off x="9625988" y="3231722"/>
            <a:ext cx="4861313" cy="4861313"/>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97658" y="450533"/>
            <a:ext cx="5457944" cy="682228"/>
          </a:xfrm>
          <a:prstGeom prst="rect">
            <a:avLst/>
          </a:prstGeom>
          <a:noFill/>
          <a:ln/>
        </p:spPr>
        <p:txBody>
          <a:bodyPr wrap="none" lIns="0" tIns="0" rIns="0" bIns="0" rtlCol="0" anchor="t"/>
          <a:lstStyle/>
          <a:p>
            <a:pPr marL="0" indent="0" algn="l">
              <a:lnSpc>
                <a:spcPts val="5350"/>
              </a:lnSpc>
              <a:buNone/>
            </a:pPr>
            <a:r>
              <a:rPr lang="en-US" sz="48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Technology Required</a:t>
            </a:r>
            <a:endParaRPr lang="en-US" sz="48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5782865" y="1348740"/>
            <a:ext cx="3392091" cy="409337"/>
          </a:xfrm>
          <a:prstGeom prst="rect">
            <a:avLst/>
          </a:prstGeom>
          <a:noFill/>
          <a:ln/>
        </p:spPr>
        <p:txBody>
          <a:bodyPr wrap="none" lIns="0" tIns="0" rIns="0" bIns="0" rtlCol="0" anchor="t"/>
          <a:lstStyle/>
          <a:p>
            <a:pPr marL="0" indent="0" algn="l">
              <a:lnSpc>
                <a:spcPts val="3200"/>
              </a:lnSpc>
              <a:buNone/>
            </a:pPr>
            <a:r>
              <a:rPr lang="en-US" sz="2400" b="1" dirty="0">
                <a:solidFill>
                  <a:srgbClr val="7030A0"/>
                </a:solidFill>
                <a:latin typeface="Times New Roman" panose="02020603050405020304" pitchFamily="18" charset="0"/>
                <a:ea typeface="Petrona Bold" pitchFamily="34" charset="-122"/>
                <a:cs typeface="Times New Roman" panose="02020603050405020304" pitchFamily="18" charset="0"/>
              </a:rPr>
              <a:t>Core Technology Stack</a:t>
            </a:r>
            <a:endParaRPr lang="en-US" sz="2400" dirty="0">
              <a:solidFill>
                <a:srgbClr val="7030A0"/>
              </a:solidFill>
              <a:latin typeface="Times New Roman" panose="02020603050405020304" pitchFamily="18" charset="0"/>
              <a:cs typeface="Times New Roman" panose="02020603050405020304" pitchFamily="18" charset="0"/>
            </a:endParaRPr>
          </a:p>
        </p:txBody>
      </p:sp>
      <p:sp>
        <p:nvSpPr>
          <p:cNvPr id="4" name="Shape 2"/>
          <p:cNvSpPr/>
          <p:nvPr/>
        </p:nvSpPr>
        <p:spPr>
          <a:xfrm>
            <a:off x="7303770" y="2097881"/>
            <a:ext cx="22860" cy="5502235"/>
          </a:xfrm>
          <a:prstGeom prst="roundRect">
            <a:avLst>
              <a:gd name="adj" fmla="val 364651"/>
            </a:avLst>
          </a:prstGeom>
          <a:solidFill>
            <a:srgbClr val="C6BDDA"/>
          </a:solidFill>
          <a:ln/>
        </p:spPr>
      </p:sp>
      <p:sp>
        <p:nvSpPr>
          <p:cNvPr id="5" name="Shape 3"/>
          <p:cNvSpPr/>
          <p:nvPr/>
        </p:nvSpPr>
        <p:spPr>
          <a:xfrm>
            <a:off x="6519505" y="2309693"/>
            <a:ext cx="595313" cy="22860"/>
          </a:xfrm>
          <a:prstGeom prst="roundRect">
            <a:avLst>
              <a:gd name="adj" fmla="val 364651"/>
            </a:avLst>
          </a:prstGeom>
          <a:solidFill>
            <a:srgbClr val="C6BDDA"/>
          </a:solidFill>
          <a:ln/>
        </p:spPr>
      </p:sp>
      <p:sp>
        <p:nvSpPr>
          <p:cNvPr id="6" name="Shape 4"/>
          <p:cNvSpPr/>
          <p:nvPr/>
        </p:nvSpPr>
        <p:spPr>
          <a:xfrm>
            <a:off x="7091958" y="2097881"/>
            <a:ext cx="446484" cy="446484"/>
          </a:xfrm>
          <a:prstGeom prst="roundRect">
            <a:avLst>
              <a:gd name="adj" fmla="val 18670"/>
            </a:avLst>
          </a:prstGeom>
          <a:solidFill>
            <a:srgbClr val="E0D7F4"/>
          </a:solidFill>
          <a:ln w="7620">
            <a:solidFill>
              <a:srgbClr val="C6BDDA"/>
            </a:solidFill>
            <a:prstDash val="solid"/>
          </a:ln>
        </p:spPr>
      </p:sp>
      <p:sp>
        <p:nvSpPr>
          <p:cNvPr id="7" name="Text 5"/>
          <p:cNvSpPr/>
          <p:nvPr/>
        </p:nvSpPr>
        <p:spPr>
          <a:xfrm>
            <a:off x="7151489" y="2116455"/>
            <a:ext cx="327422" cy="409337"/>
          </a:xfrm>
          <a:prstGeom prst="rect">
            <a:avLst/>
          </a:prstGeom>
          <a:noFill/>
          <a:ln/>
        </p:spPr>
        <p:txBody>
          <a:bodyPr wrap="none" lIns="0" tIns="0" rIns="0" bIns="0" rtlCol="0" anchor="t"/>
          <a:lstStyle/>
          <a:p>
            <a:pPr marL="0" indent="0" algn="ctr">
              <a:lnSpc>
                <a:spcPts val="25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1661160" y="2166104"/>
            <a:ext cx="4661773" cy="341114"/>
          </a:xfrm>
          <a:prstGeom prst="rect">
            <a:avLst/>
          </a:prstGeom>
          <a:noFill/>
          <a:ln/>
        </p:spPr>
        <p:txBody>
          <a:bodyPr wrap="none" lIns="0" tIns="0" rIns="0" bIns="0" rtlCol="0" anchor="t"/>
          <a:lstStyle/>
          <a:p>
            <a:pPr marL="0" indent="0" algn="r">
              <a:lnSpc>
                <a:spcPts val="26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ChatterBot (Python) - Chatbot Engine</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793790" y="2626281"/>
            <a:ext cx="5529143" cy="1270159"/>
          </a:xfrm>
          <a:prstGeom prst="rect">
            <a:avLst/>
          </a:prstGeom>
          <a:noFill/>
          <a:ln/>
        </p:spPr>
        <p:txBody>
          <a:bodyPr wrap="square" lIns="0" tIns="0" rIns="0" bIns="0" rtlCol="0" anchor="t"/>
          <a:lstStyle/>
          <a:p>
            <a:pPr marL="0" indent="0" algn="r">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Provides AI-driven conversational responses using pattern matching and confidence scoring. Acts as the core conversational brain handling FAQs about museum timings, ticket prices, location details, and guidelines.</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7515582" y="3500318"/>
            <a:ext cx="595313" cy="22860"/>
          </a:xfrm>
          <a:prstGeom prst="roundRect">
            <a:avLst>
              <a:gd name="adj" fmla="val 364651"/>
            </a:avLst>
          </a:prstGeom>
          <a:solidFill>
            <a:srgbClr val="C6BDDA"/>
          </a:solidFill>
          <a:ln/>
        </p:spPr>
      </p:sp>
      <p:sp>
        <p:nvSpPr>
          <p:cNvPr id="11" name="Shape 9"/>
          <p:cNvSpPr/>
          <p:nvPr/>
        </p:nvSpPr>
        <p:spPr>
          <a:xfrm>
            <a:off x="7091958" y="3288506"/>
            <a:ext cx="446484" cy="446484"/>
          </a:xfrm>
          <a:prstGeom prst="roundRect">
            <a:avLst>
              <a:gd name="adj" fmla="val 18670"/>
            </a:avLst>
          </a:prstGeom>
          <a:solidFill>
            <a:srgbClr val="E0D7F4"/>
          </a:solidFill>
          <a:ln w="7620">
            <a:solidFill>
              <a:srgbClr val="C6BDDA"/>
            </a:solidFill>
            <a:prstDash val="solid"/>
          </a:ln>
        </p:spPr>
      </p:sp>
      <p:sp>
        <p:nvSpPr>
          <p:cNvPr id="12" name="Text 10"/>
          <p:cNvSpPr/>
          <p:nvPr/>
        </p:nvSpPr>
        <p:spPr>
          <a:xfrm>
            <a:off x="7151489" y="3307080"/>
            <a:ext cx="327422" cy="409337"/>
          </a:xfrm>
          <a:prstGeom prst="rect">
            <a:avLst/>
          </a:prstGeom>
          <a:noFill/>
          <a:ln/>
        </p:spPr>
        <p:txBody>
          <a:bodyPr wrap="none" lIns="0" tIns="0" rIns="0" bIns="0" rtlCol="0" anchor="t"/>
          <a:lstStyle/>
          <a:p>
            <a:pPr marL="0" indent="0" algn="ctr">
              <a:lnSpc>
                <a:spcPts val="25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307467" y="3356729"/>
            <a:ext cx="2974062" cy="341114"/>
          </a:xfrm>
          <a:prstGeom prst="rect">
            <a:avLst/>
          </a:prstGeom>
          <a:noFill/>
          <a:ln/>
        </p:spPr>
        <p:txBody>
          <a:bodyPr wrap="none" lIns="0" tIns="0" rIns="0" bIns="0" rtlCol="0" anchor="t"/>
          <a:lstStyle/>
          <a:p>
            <a:pPr marL="0" indent="0" algn="l">
              <a:lnSpc>
                <a:spcPts val="26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spaCy - NLP Framework</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307467" y="3816906"/>
            <a:ext cx="5529143" cy="1587698"/>
          </a:xfrm>
          <a:prstGeom prst="rect">
            <a:avLst/>
          </a:prstGeom>
          <a:noFill/>
          <a:ln/>
        </p:spPr>
        <p:txBody>
          <a:bodyPr wrap="square" lIns="0" tIns="0" rIns="0" bIns="0" rtlCol="0" anchor="t"/>
          <a:lstStyle/>
          <a:p>
            <a:pPr marL="0" indent="0" algn="l">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Advanced Natural Language Processing for text preprocessing, tokenization, lemmatization, Named Entity Recognition (NER), and intent detection. Pre-processes user input before sending to ChatterBot for accurate routing.</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6519505" y="4756785"/>
            <a:ext cx="595313" cy="22860"/>
          </a:xfrm>
          <a:prstGeom prst="roundRect">
            <a:avLst>
              <a:gd name="adj" fmla="val 364651"/>
            </a:avLst>
          </a:prstGeom>
          <a:solidFill>
            <a:srgbClr val="C6BDDA"/>
          </a:solidFill>
          <a:ln/>
        </p:spPr>
      </p:sp>
      <p:sp>
        <p:nvSpPr>
          <p:cNvPr id="16" name="Shape 14"/>
          <p:cNvSpPr/>
          <p:nvPr/>
        </p:nvSpPr>
        <p:spPr>
          <a:xfrm>
            <a:off x="7091958" y="4544973"/>
            <a:ext cx="446484" cy="446484"/>
          </a:xfrm>
          <a:prstGeom prst="roundRect">
            <a:avLst>
              <a:gd name="adj" fmla="val 18670"/>
            </a:avLst>
          </a:prstGeom>
          <a:solidFill>
            <a:srgbClr val="E0D7F4"/>
          </a:solidFill>
          <a:ln w="7620">
            <a:solidFill>
              <a:srgbClr val="C6BDDA"/>
            </a:solidFill>
            <a:prstDash val="solid"/>
          </a:ln>
        </p:spPr>
      </p:sp>
      <p:sp>
        <p:nvSpPr>
          <p:cNvPr id="17" name="Text 15"/>
          <p:cNvSpPr/>
          <p:nvPr/>
        </p:nvSpPr>
        <p:spPr>
          <a:xfrm>
            <a:off x="7151489" y="4563547"/>
            <a:ext cx="327422" cy="409337"/>
          </a:xfrm>
          <a:prstGeom prst="rect">
            <a:avLst/>
          </a:prstGeom>
          <a:noFill/>
          <a:ln/>
        </p:spPr>
        <p:txBody>
          <a:bodyPr wrap="none" lIns="0" tIns="0" rIns="0" bIns="0" rtlCol="0" anchor="t"/>
          <a:lstStyle/>
          <a:p>
            <a:pPr marL="0" indent="0" algn="ctr">
              <a:lnSpc>
                <a:spcPts val="25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2602587" y="4613196"/>
            <a:ext cx="3720346" cy="341114"/>
          </a:xfrm>
          <a:prstGeom prst="rect">
            <a:avLst/>
          </a:prstGeom>
          <a:noFill/>
          <a:ln/>
        </p:spPr>
        <p:txBody>
          <a:bodyPr wrap="none" lIns="0" tIns="0" rIns="0" bIns="0" rtlCol="0" anchor="t"/>
          <a:lstStyle/>
          <a:p>
            <a:pPr marL="0" indent="0" algn="r">
              <a:lnSpc>
                <a:spcPts val="26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Node.js - Backend Technology</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793790" y="5073372"/>
            <a:ext cx="5529143" cy="1270159"/>
          </a:xfrm>
          <a:prstGeom prst="rect">
            <a:avLst/>
          </a:prstGeom>
          <a:noFill/>
          <a:ln/>
        </p:spPr>
        <p:txBody>
          <a:bodyPr wrap="square" lIns="0" tIns="0" rIns="0" bIns="0" rtlCol="0" anchor="t"/>
          <a:lstStyle/>
          <a:p>
            <a:pPr marL="0" indent="0" algn="r">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Central control layer handling API requests, authentication, business logic, and communication between frontend, chatbot, ML, database, and hardware. Non-blocking architecture perfect for real-time apps and IoT.</a:t>
            </a:r>
            <a:endParaRPr lang="en-US" dirty="0">
              <a:latin typeface="Times New Roman" panose="02020603050405020304" pitchFamily="18" charset="0"/>
              <a:cs typeface="Times New Roman" panose="02020603050405020304" pitchFamily="18" charset="0"/>
            </a:endParaRPr>
          </a:p>
        </p:txBody>
      </p:sp>
      <p:sp>
        <p:nvSpPr>
          <p:cNvPr id="20" name="Shape 18"/>
          <p:cNvSpPr/>
          <p:nvPr/>
        </p:nvSpPr>
        <p:spPr>
          <a:xfrm>
            <a:off x="7515582" y="6013252"/>
            <a:ext cx="595313" cy="22860"/>
          </a:xfrm>
          <a:prstGeom prst="roundRect">
            <a:avLst>
              <a:gd name="adj" fmla="val 364651"/>
            </a:avLst>
          </a:prstGeom>
          <a:solidFill>
            <a:srgbClr val="C6BDDA"/>
          </a:solidFill>
          <a:ln/>
        </p:spPr>
      </p:sp>
      <p:sp>
        <p:nvSpPr>
          <p:cNvPr id="21" name="Shape 19"/>
          <p:cNvSpPr/>
          <p:nvPr/>
        </p:nvSpPr>
        <p:spPr>
          <a:xfrm>
            <a:off x="7091958" y="5801439"/>
            <a:ext cx="446484" cy="446484"/>
          </a:xfrm>
          <a:prstGeom prst="roundRect">
            <a:avLst>
              <a:gd name="adj" fmla="val 18670"/>
            </a:avLst>
          </a:prstGeom>
          <a:solidFill>
            <a:srgbClr val="E0D7F4"/>
          </a:solidFill>
          <a:ln w="7620">
            <a:solidFill>
              <a:srgbClr val="C6BDDA"/>
            </a:solidFill>
            <a:prstDash val="solid"/>
          </a:ln>
        </p:spPr>
      </p:sp>
      <p:sp>
        <p:nvSpPr>
          <p:cNvPr id="22" name="Text 20"/>
          <p:cNvSpPr/>
          <p:nvPr/>
        </p:nvSpPr>
        <p:spPr>
          <a:xfrm>
            <a:off x="7151489" y="5820013"/>
            <a:ext cx="327422" cy="409337"/>
          </a:xfrm>
          <a:prstGeom prst="rect">
            <a:avLst/>
          </a:prstGeom>
          <a:noFill/>
          <a:ln/>
        </p:spPr>
        <p:txBody>
          <a:bodyPr wrap="none" lIns="0" tIns="0" rIns="0" bIns="0" rtlCol="0" anchor="t"/>
          <a:lstStyle/>
          <a:p>
            <a:pPr marL="0" indent="0" algn="ctr">
              <a:lnSpc>
                <a:spcPts val="255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8307467" y="5869662"/>
            <a:ext cx="3845838" cy="341114"/>
          </a:xfrm>
          <a:prstGeom prst="rect">
            <a:avLst/>
          </a:prstGeom>
          <a:noFill/>
          <a:ln/>
        </p:spPr>
        <p:txBody>
          <a:bodyPr wrap="none" lIns="0" tIns="0" rIns="0" bIns="0" rtlCol="0" anchor="t"/>
          <a:lstStyle/>
          <a:p>
            <a:pPr marL="0" indent="0" algn="l">
              <a:lnSpc>
                <a:spcPts val="2650"/>
              </a:lnSpc>
              <a:buNone/>
            </a:pPr>
            <a:r>
              <a:rPr lang="en-US" b="1" dirty="0" err="1">
                <a:solidFill>
                  <a:srgbClr val="272525"/>
                </a:solidFill>
                <a:latin typeface="Times New Roman" panose="02020603050405020304" pitchFamily="18" charset="0"/>
                <a:ea typeface="Petrona Bold" pitchFamily="34" charset="-122"/>
                <a:cs typeface="Times New Roman" panose="02020603050405020304" pitchFamily="18" charset="0"/>
              </a:rPr>
              <a:t>Next.Js</a:t>
            </a: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  - Frontend Framework</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8307467" y="6329839"/>
            <a:ext cx="5529143" cy="1270159"/>
          </a:xfrm>
          <a:prstGeom prst="rect">
            <a:avLst/>
          </a:prstGeom>
          <a:noFill/>
          <a:ln/>
        </p:spPr>
        <p:txBody>
          <a:bodyPr wrap="square" lIns="0" tIns="0" rIns="0" bIns="0" rtlCol="0" anchor="t"/>
          <a:lstStyle/>
          <a:p>
            <a:pPr marL="0" indent="0" algn="l">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User interaction layer providing fast, responsive interfaces for visitor website, chatbot UI, ticket booking portal, and museum admin dashboard with real-time updates and QR-based ticket display.</a:t>
            </a:r>
            <a:endParaRPr lang="en-US"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0A0260D-AF72-61B2-A912-5E5E9FC01D11}"/>
              </a:ext>
            </a:extLst>
          </p:cNvPr>
          <p:cNvPicPr>
            <a:picLocks noChangeAspect="1"/>
          </p:cNvPicPr>
          <p:nvPr/>
        </p:nvPicPr>
        <p:blipFill>
          <a:blip r:embed="rId3"/>
          <a:stretch>
            <a:fillRect/>
          </a:stretch>
        </p:blipFill>
        <p:spPr>
          <a:xfrm>
            <a:off x="12296775" y="7747185"/>
            <a:ext cx="2333625" cy="42862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4AFB7F48-22FF-7551-E52F-E87942D0CE6E}"/>
              </a:ext>
            </a:extLst>
          </p:cNvPr>
          <p:cNvSpPr/>
          <p:nvPr/>
        </p:nvSpPr>
        <p:spPr>
          <a:xfrm>
            <a:off x="9292116" y="6036218"/>
            <a:ext cx="4422409" cy="16148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DFA4B1CA-E098-F8AC-E795-C2DC20FFF42C}"/>
              </a:ext>
            </a:extLst>
          </p:cNvPr>
          <p:cNvSpPr/>
          <p:nvPr/>
        </p:nvSpPr>
        <p:spPr>
          <a:xfrm>
            <a:off x="4736595" y="6009610"/>
            <a:ext cx="4422409" cy="16148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8" name="Rectangle: Rounded Corners 47">
            <a:extLst>
              <a:ext uri="{FF2B5EF4-FFF2-40B4-BE49-F238E27FC236}">
                <a16:creationId xmlns:a16="http://schemas.microsoft.com/office/drawing/2014/main" id="{B495E56D-9A8D-06A6-4ADE-E4427512232B}"/>
              </a:ext>
            </a:extLst>
          </p:cNvPr>
          <p:cNvSpPr/>
          <p:nvPr/>
        </p:nvSpPr>
        <p:spPr>
          <a:xfrm>
            <a:off x="140206" y="6035791"/>
            <a:ext cx="4422409" cy="16148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p:nvPr/>
        </p:nvSpPr>
        <p:spPr>
          <a:xfrm>
            <a:off x="3263444" y="371513"/>
            <a:ext cx="5461754" cy="457795"/>
          </a:xfrm>
          <a:prstGeom prst="rect">
            <a:avLst/>
          </a:prstGeom>
          <a:noFill/>
          <a:ln/>
        </p:spPr>
        <p:txBody>
          <a:bodyPr wrap="none" lIns="0" tIns="0" rIns="0" bIns="0" rtlCol="0" anchor="t"/>
          <a:lstStyle/>
          <a:p>
            <a:pPr marL="0" indent="0" algn="l">
              <a:lnSpc>
                <a:spcPts val="3600"/>
              </a:lnSpc>
              <a:buNone/>
            </a:pPr>
            <a:r>
              <a:rPr lang="en-US" sz="48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Database &amp; Cloud Infrastructure</a:t>
            </a:r>
            <a:endParaRPr lang="en-US" sz="48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606217" y="1146304"/>
            <a:ext cx="2197060" cy="274558"/>
          </a:xfrm>
          <a:prstGeom prst="rect">
            <a:avLst/>
          </a:prstGeom>
          <a:noFill/>
          <a:ln/>
        </p:spPr>
        <p:txBody>
          <a:bodyPr wrap="none" lIns="0" tIns="0" rIns="0" bIns="0" rtlCol="0" anchor="t"/>
          <a:lstStyle/>
          <a:p>
            <a:pPr marL="0" indent="0" algn="l">
              <a:lnSpc>
                <a:spcPts val="2150"/>
              </a:lnSpc>
              <a:buNone/>
            </a:pPr>
            <a:r>
              <a:rPr lang="en-US" sz="3200" b="1" dirty="0">
                <a:solidFill>
                  <a:srgbClr val="7030A0"/>
                </a:solidFill>
                <a:latin typeface="Times New Roman" panose="02020603050405020304" pitchFamily="18" charset="0"/>
                <a:ea typeface="Petrona Bold" pitchFamily="34" charset="-122"/>
                <a:cs typeface="Times New Roman" panose="02020603050405020304" pitchFamily="18" charset="0"/>
              </a:rPr>
              <a:t>Database Layer</a:t>
            </a:r>
            <a:endParaRPr lang="en-US" sz="3200" dirty="0">
              <a:solidFill>
                <a:srgbClr val="7030A0"/>
              </a:solidFill>
              <a:latin typeface="Times New Roman" panose="02020603050405020304" pitchFamily="18" charset="0"/>
              <a:cs typeface="Times New Roman" panose="02020603050405020304" pitchFamily="18" charset="0"/>
            </a:endParaRPr>
          </a:p>
        </p:txBody>
      </p:sp>
      <p:sp>
        <p:nvSpPr>
          <p:cNvPr id="4" name="Shape 2"/>
          <p:cNvSpPr/>
          <p:nvPr/>
        </p:nvSpPr>
        <p:spPr>
          <a:xfrm>
            <a:off x="532567" y="1905762"/>
            <a:ext cx="3307913" cy="2532818"/>
          </a:xfrm>
          <a:prstGeom prst="roundRect">
            <a:avLst>
              <a:gd name="adj" fmla="val 2581"/>
            </a:avLst>
          </a:prstGeom>
          <a:solidFill>
            <a:srgbClr val="E0D7F4"/>
          </a:solidFill>
          <a:ln w="7620">
            <a:solidFill>
              <a:srgbClr val="C6BDDA"/>
            </a:solidFill>
            <a:prstDash val="solid"/>
          </a:ln>
        </p:spPr>
      </p:sp>
      <p:sp>
        <p:nvSpPr>
          <p:cNvPr id="5" name="Shape 3"/>
          <p:cNvSpPr/>
          <p:nvPr/>
        </p:nvSpPr>
        <p:spPr>
          <a:xfrm>
            <a:off x="673298" y="1979940"/>
            <a:ext cx="399455" cy="399455"/>
          </a:xfrm>
          <a:prstGeom prst="roundRect">
            <a:avLst>
              <a:gd name="adj" fmla="val 22888900"/>
            </a:avLst>
          </a:prstGeom>
          <a:solidFill>
            <a:srgbClr val="6237C8"/>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193" y="2089835"/>
            <a:ext cx="179665" cy="179665"/>
          </a:xfrm>
          <a:prstGeom prst="rect">
            <a:avLst/>
          </a:prstGeom>
        </p:spPr>
      </p:pic>
      <p:sp>
        <p:nvSpPr>
          <p:cNvPr id="7" name="Text 4"/>
          <p:cNvSpPr/>
          <p:nvPr/>
        </p:nvSpPr>
        <p:spPr>
          <a:xfrm>
            <a:off x="673298" y="2512506"/>
            <a:ext cx="1830943" cy="228838"/>
          </a:xfrm>
          <a:prstGeom prst="rect">
            <a:avLst/>
          </a:prstGeom>
          <a:noFill/>
          <a:ln/>
        </p:spPr>
        <p:txBody>
          <a:bodyPr wrap="none" lIns="0" tIns="0" rIns="0" bIns="0" rtlCol="0" anchor="t"/>
          <a:lstStyle/>
          <a:p>
            <a:pPr marL="0" indent="0" algn="l">
              <a:lnSpc>
                <a:spcPts val="180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Firebase DB</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673298" y="2874456"/>
            <a:ext cx="6338768" cy="212884"/>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Chat history storage</a:t>
            </a:r>
            <a:endParaRPr lang="en-US" dirty="0">
              <a:latin typeface="Times New Roman" panose="02020603050405020304" pitchFamily="18" charset="0"/>
              <a:cs typeface="Times New Roman" panose="02020603050405020304" pitchFamily="18" charset="0"/>
            </a:endParaRPr>
          </a:p>
        </p:txBody>
      </p:sp>
      <p:sp>
        <p:nvSpPr>
          <p:cNvPr id="9" name="Text 6"/>
          <p:cNvSpPr/>
          <p:nvPr/>
        </p:nvSpPr>
        <p:spPr>
          <a:xfrm>
            <a:off x="673298" y="3133894"/>
            <a:ext cx="6338768" cy="212884"/>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Analytics and logs</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673298" y="3393331"/>
            <a:ext cx="6338768" cy="212884"/>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User interaction patterns</a:t>
            </a:r>
            <a:endParaRPr lang="en-US" dirty="0">
              <a:latin typeface="Times New Roman" panose="02020603050405020304" pitchFamily="18" charset="0"/>
              <a:cs typeface="Times New Roman" panose="02020603050405020304" pitchFamily="18" charset="0"/>
            </a:endParaRPr>
          </a:p>
        </p:txBody>
      </p:sp>
      <p:sp>
        <p:nvSpPr>
          <p:cNvPr id="11" name="Text 8"/>
          <p:cNvSpPr/>
          <p:nvPr/>
        </p:nvSpPr>
        <p:spPr>
          <a:xfrm>
            <a:off x="673298" y="3652768"/>
            <a:ext cx="6338768" cy="212884"/>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Schema-less flexibility</a:t>
            </a:r>
            <a:endParaRPr lang="en-US" dirty="0">
              <a:latin typeface="Times New Roman" panose="02020603050405020304" pitchFamily="18" charset="0"/>
              <a:cs typeface="Times New Roman" panose="02020603050405020304" pitchFamily="18" charset="0"/>
            </a:endParaRPr>
          </a:p>
        </p:txBody>
      </p:sp>
      <p:sp>
        <p:nvSpPr>
          <p:cNvPr id="12" name="Shape 9"/>
          <p:cNvSpPr/>
          <p:nvPr/>
        </p:nvSpPr>
        <p:spPr>
          <a:xfrm>
            <a:off x="3981211" y="1912452"/>
            <a:ext cx="3307913" cy="2532818"/>
          </a:xfrm>
          <a:prstGeom prst="roundRect">
            <a:avLst>
              <a:gd name="adj" fmla="val 2581"/>
            </a:avLst>
          </a:prstGeom>
          <a:solidFill>
            <a:srgbClr val="E0D7F4"/>
          </a:solidFill>
          <a:ln w="7620">
            <a:solidFill>
              <a:srgbClr val="C6BDDA"/>
            </a:solidFill>
            <a:prstDash val="solid"/>
          </a:ln>
        </p:spPr>
      </p:sp>
      <p:sp>
        <p:nvSpPr>
          <p:cNvPr id="13" name="Shape 10"/>
          <p:cNvSpPr/>
          <p:nvPr/>
        </p:nvSpPr>
        <p:spPr>
          <a:xfrm>
            <a:off x="4121943" y="2053184"/>
            <a:ext cx="399455" cy="399455"/>
          </a:xfrm>
          <a:prstGeom prst="roundRect">
            <a:avLst>
              <a:gd name="adj" fmla="val 22888900"/>
            </a:avLst>
          </a:prstGeom>
          <a:solidFill>
            <a:srgbClr val="6237C8"/>
          </a:solidFill>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31838" y="2163079"/>
            <a:ext cx="179665" cy="179665"/>
          </a:xfrm>
          <a:prstGeom prst="rect">
            <a:avLst/>
          </a:prstGeom>
        </p:spPr>
      </p:pic>
      <p:sp>
        <p:nvSpPr>
          <p:cNvPr id="15" name="Text 11"/>
          <p:cNvSpPr/>
          <p:nvPr/>
        </p:nvSpPr>
        <p:spPr>
          <a:xfrm>
            <a:off x="4121943" y="2585751"/>
            <a:ext cx="1830943" cy="228838"/>
          </a:xfrm>
          <a:prstGeom prst="rect">
            <a:avLst/>
          </a:prstGeom>
          <a:noFill/>
          <a:ln/>
        </p:spPr>
        <p:txBody>
          <a:bodyPr wrap="none" lIns="0" tIns="0" rIns="0" bIns="0" rtlCol="0" anchor="t"/>
          <a:lstStyle/>
          <a:p>
            <a:pPr marL="0" indent="0" algn="l">
              <a:lnSpc>
                <a:spcPts val="180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Firebase</a:t>
            </a:r>
            <a:endParaRPr lang="en-US" sz="2000" dirty="0">
              <a:latin typeface="Times New Roman" panose="02020603050405020304" pitchFamily="18" charset="0"/>
              <a:cs typeface="Times New Roman" panose="02020603050405020304" pitchFamily="18" charset="0"/>
            </a:endParaRPr>
          </a:p>
        </p:txBody>
      </p:sp>
      <p:sp>
        <p:nvSpPr>
          <p:cNvPr id="16" name="Text 12"/>
          <p:cNvSpPr/>
          <p:nvPr/>
        </p:nvSpPr>
        <p:spPr>
          <a:xfrm>
            <a:off x="4071513" y="2864902"/>
            <a:ext cx="3167182" cy="118706"/>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User authentication</a:t>
            </a:r>
            <a:endParaRPr lang="en-US" dirty="0">
              <a:latin typeface="Times New Roman" panose="02020603050405020304" pitchFamily="18" charset="0"/>
              <a:cs typeface="Times New Roman" panose="02020603050405020304" pitchFamily="18" charset="0"/>
            </a:endParaRPr>
          </a:p>
        </p:txBody>
      </p:sp>
      <p:sp>
        <p:nvSpPr>
          <p:cNvPr id="17" name="Text 13"/>
          <p:cNvSpPr/>
          <p:nvPr/>
        </p:nvSpPr>
        <p:spPr>
          <a:xfrm>
            <a:off x="4069385" y="3167557"/>
            <a:ext cx="2812180" cy="127576"/>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Real-time updates</a:t>
            </a:r>
            <a:endParaRPr lang="en-US" dirty="0">
              <a:latin typeface="Times New Roman" panose="02020603050405020304" pitchFamily="18" charset="0"/>
              <a:cs typeface="Times New Roman" panose="02020603050405020304" pitchFamily="18" charset="0"/>
            </a:endParaRPr>
          </a:p>
        </p:txBody>
      </p:sp>
      <p:sp>
        <p:nvSpPr>
          <p:cNvPr id="18" name="Text 14"/>
          <p:cNvSpPr/>
          <p:nvPr/>
        </p:nvSpPr>
        <p:spPr>
          <a:xfrm>
            <a:off x="4069385" y="3435969"/>
            <a:ext cx="3307913" cy="212884"/>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Booking data storage</a:t>
            </a:r>
            <a:endParaRPr lang="en-US" dirty="0">
              <a:latin typeface="Times New Roman" panose="02020603050405020304" pitchFamily="18" charset="0"/>
              <a:cs typeface="Times New Roman" panose="02020603050405020304" pitchFamily="18" charset="0"/>
            </a:endParaRPr>
          </a:p>
        </p:txBody>
      </p:sp>
      <p:sp>
        <p:nvSpPr>
          <p:cNvPr id="19" name="Text 15"/>
          <p:cNvSpPr/>
          <p:nvPr/>
        </p:nvSpPr>
        <p:spPr>
          <a:xfrm>
            <a:off x="4069385" y="3775238"/>
            <a:ext cx="3678016" cy="228838"/>
          </a:xfrm>
          <a:prstGeom prst="rect">
            <a:avLst/>
          </a:prstGeom>
          <a:noFill/>
          <a:ln/>
        </p:spPr>
        <p:txBody>
          <a:bodyPr wrap="none" lIns="0" tIns="0" rIns="0" bIns="0" rtlCol="0" anchor="t"/>
          <a:lstStyle/>
          <a:p>
            <a:pPr marL="342900" indent="-342900" algn="l">
              <a:lnSpc>
                <a:spcPts val="1650"/>
              </a:lnSpc>
              <a:buSzPct val="100000"/>
              <a:buChar char="•"/>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Cloud messaging</a:t>
            </a:r>
            <a:endParaRPr lang="en-US" dirty="0">
              <a:latin typeface="Times New Roman" panose="02020603050405020304" pitchFamily="18" charset="0"/>
              <a:cs typeface="Times New Roman" panose="02020603050405020304" pitchFamily="18" charset="0"/>
            </a:endParaRPr>
          </a:p>
        </p:txBody>
      </p:sp>
      <p:sp>
        <p:nvSpPr>
          <p:cNvPr id="20" name="Text 16"/>
          <p:cNvSpPr/>
          <p:nvPr/>
        </p:nvSpPr>
        <p:spPr>
          <a:xfrm>
            <a:off x="7485221" y="1156692"/>
            <a:ext cx="2197060" cy="274558"/>
          </a:xfrm>
          <a:prstGeom prst="rect">
            <a:avLst/>
          </a:prstGeom>
          <a:noFill/>
          <a:ln/>
        </p:spPr>
        <p:txBody>
          <a:bodyPr wrap="none" lIns="0" tIns="0" rIns="0" bIns="0" rtlCol="0" anchor="t"/>
          <a:lstStyle/>
          <a:p>
            <a:pPr marL="0" indent="0" algn="l">
              <a:lnSpc>
                <a:spcPts val="2150"/>
              </a:lnSpc>
              <a:buNone/>
            </a:pPr>
            <a:r>
              <a:rPr lang="en-US" sz="3200" b="1" dirty="0">
                <a:solidFill>
                  <a:srgbClr val="7030A0"/>
                </a:solidFill>
                <a:latin typeface="Times New Roman" panose="02020603050405020304" pitchFamily="18" charset="0"/>
                <a:ea typeface="Petrona Bold" pitchFamily="34" charset="-122"/>
                <a:cs typeface="Times New Roman" panose="02020603050405020304" pitchFamily="18" charset="0"/>
              </a:rPr>
              <a:t>Cloud Hosting</a:t>
            </a:r>
            <a:endParaRPr lang="en-US" sz="3200" dirty="0">
              <a:solidFill>
                <a:srgbClr val="7030A0"/>
              </a:solidFill>
              <a:latin typeface="Times New Roman" panose="02020603050405020304" pitchFamily="18" charset="0"/>
              <a:cs typeface="Times New Roman" panose="02020603050405020304" pitchFamily="18" charset="0"/>
            </a:endParaRPr>
          </a:p>
        </p:txBody>
      </p:sp>
      <p:sp>
        <p:nvSpPr>
          <p:cNvPr id="21" name="Shape 17"/>
          <p:cNvSpPr/>
          <p:nvPr/>
        </p:nvSpPr>
        <p:spPr>
          <a:xfrm>
            <a:off x="7485221" y="1581031"/>
            <a:ext cx="6620232" cy="1035248"/>
          </a:xfrm>
          <a:prstGeom prst="roundRect">
            <a:avLst>
              <a:gd name="adj" fmla="val 8393"/>
            </a:avLst>
          </a:prstGeom>
          <a:solidFill>
            <a:srgbClr val="FDFAF7"/>
          </a:solidFill>
          <a:ln w="15240">
            <a:solidFill>
              <a:srgbClr val="C6BDDA"/>
            </a:solidFill>
            <a:prstDash val="solid"/>
          </a:ln>
        </p:spPr>
      </p:sp>
      <p:sp>
        <p:nvSpPr>
          <p:cNvPr id="22" name="Shape 18"/>
          <p:cNvSpPr/>
          <p:nvPr/>
        </p:nvSpPr>
        <p:spPr>
          <a:xfrm>
            <a:off x="7469981" y="1581031"/>
            <a:ext cx="60960" cy="1004648"/>
          </a:xfrm>
          <a:prstGeom prst="roundRect">
            <a:avLst>
              <a:gd name="adj" fmla="val 91745"/>
            </a:avLst>
          </a:prstGeom>
          <a:solidFill>
            <a:srgbClr val="6237C8"/>
          </a:solidFill>
          <a:ln/>
        </p:spPr>
      </p:sp>
      <p:sp>
        <p:nvSpPr>
          <p:cNvPr id="23" name="Text 19"/>
          <p:cNvSpPr/>
          <p:nvPr/>
        </p:nvSpPr>
        <p:spPr>
          <a:xfrm>
            <a:off x="7679293" y="1729383"/>
            <a:ext cx="1830943" cy="228838"/>
          </a:xfrm>
          <a:prstGeom prst="rect">
            <a:avLst/>
          </a:prstGeom>
          <a:noFill/>
          <a:ln/>
        </p:spPr>
        <p:txBody>
          <a:bodyPr wrap="none" lIns="0" tIns="0" rIns="0" bIns="0" rtlCol="0" anchor="t"/>
          <a:lstStyle/>
          <a:p>
            <a:pPr marL="0" indent="0" algn="l">
              <a:lnSpc>
                <a:spcPts val="1800"/>
              </a:lnSpc>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Render</a:t>
            </a:r>
            <a:endParaRPr lang="en-US" sz="2000" dirty="0">
              <a:latin typeface="Times New Roman" panose="02020603050405020304" pitchFamily="18" charset="0"/>
              <a:cs typeface="Times New Roman" panose="02020603050405020304" pitchFamily="18" charset="0"/>
            </a:endParaRPr>
          </a:p>
        </p:txBody>
      </p:sp>
      <p:sp>
        <p:nvSpPr>
          <p:cNvPr id="24" name="Text 20"/>
          <p:cNvSpPr/>
          <p:nvPr/>
        </p:nvSpPr>
        <p:spPr>
          <a:xfrm>
            <a:off x="7679293" y="2091333"/>
            <a:ext cx="6277808" cy="212884"/>
          </a:xfrm>
          <a:prstGeom prst="rect">
            <a:avLst/>
          </a:prstGeom>
          <a:noFill/>
          <a:ln/>
        </p:spPr>
        <p:txBody>
          <a:bodyPr wrap="none" lIns="0" tIns="0" rIns="0" bIns="0" rtlCol="0" anchor="t"/>
          <a:lstStyle/>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Hosts Node.js backend and Python chatbot services with auto-scaling </a:t>
            </a:r>
          </a:p>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and easy CI/CD from GitHub.</a:t>
            </a:r>
            <a:endParaRPr lang="en-US" dirty="0">
              <a:latin typeface="Times New Roman" panose="02020603050405020304" pitchFamily="18" charset="0"/>
              <a:cs typeface="Times New Roman" panose="02020603050405020304" pitchFamily="18" charset="0"/>
            </a:endParaRPr>
          </a:p>
        </p:txBody>
      </p:sp>
      <p:sp>
        <p:nvSpPr>
          <p:cNvPr id="29" name="Shape 25"/>
          <p:cNvSpPr/>
          <p:nvPr/>
        </p:nvSpPr>
        <p:spPr>
          <a:xfrm>
            <a:off x="7485221" y="2943096"/>
            <a:ext cx="6620232" cy="1326238"/>
          </a:xfrm>
          <a:prstGeom prst="roundRect">
            <a:avLst>
              <a:gd name="adj" fmla="val 8393"/>
            </a:avLst>
          </a:prstGeom>
          <a:solidFill>
            <a:srgbClr val="FDFAF7"/>
          </a:solidFill>
          <a:ln w="15240">
            <a:solidFill>
              <a:srgbClr val="C6BDDA"/>
            </a:solidFill>
            <a:prstDash val="solid"/>
          </a:ln>
        </p:spPr>
      </p:sp>
      <p:sp>
        <p:nvSpPr>
          <p:cNvPr id="30" name="Shape 26"/>
          <p:cNvSpPr/>
          <p:nvPr/>
        </p:nvSpPr>
        <p:spPr>
          <a:xfrm>
            <a:off x="7469981" y="2974876"/>
            <a:ext cx="60960" cy="1237231"/>
          </a:xfrm>
          <a:prstGeom prst="roundRect">
            <a:avLst>
              <a:gd name="adj" fmla="val 91745"/>
            </a:avLst>
          </a:prstGeom>
          <a:solidFill>
            <a:srgbClr val="6237C8"/>
          </a:solidFill>
          <a:ln/>
        </p:spPr>
      </p:sp>
      <p:sp>
        <p:nvSpPr>
          <p:cNvPr id="31" name="Text 27"/>
          <p:cNvSpPr/>
          <p:nvPr/>
        </p:nvSpPr>
        <p:spPr>
          <a:xfrm>
            <a:off x="7679293" y="3016142"/>
            <a:ext cx="1830943" cy="228838"/>
          </a:xfrm>
          <a:prstGeom prst="rect">
            <a:avLst/>
          </a:prstGeom>
          <a:noFill/>
          <a:ln/>
        </p:spPr>
        <p:txBody>
          <a:bodyPr wrap="none" lIns="0" tIns="0" rIns="0" bIns="0" rtlCol="0" anchor="t"/>
          <a:lstStyle/>
          <a:p>
            <a:pPr marL="0" indent="0" algn="l">
              <a:lnSpc>
                <a:spcPts val="1800"/>
              </a:lnSpc>
              <a:buNone/>
            </a:pPr>
            <a:r>
              <a:rPr lang="en-US" sz="2000" b="1" dirty="0" err="1">
                <a:solidFill>
                  <a:srgbClr val="272525"/>
                </a:solidFill>
                <a:latin typeface="Times New Roman" panose="02020603050405020304" pitchFamily="18" charset="0"/>
                <a:ea typeface="Petrona Bold" pitchFamily="34" charset="-122"/>
                <a:cs typeface="Times New Roman" panose="02020603050405020304" pitchFamily="18" charset="0"/>
              </a:rPr>
              <a:t>Vercel</a:t>
            </a:r>
            <a:endParaRPr lang="en-US" sz="2000" dirty="0">
              <a:latin typeface="Times New Roman" panose="02020603050405020304" pitchFamily="18" charset="0"/>
              <a:cs typeface="Times New Roman" panose="02020603050405020304" pitchFamily="18" charset="0"/>
            </a:endParaRPr>
          </a:p>
        </p:txBody>
      </p:sp>
      <p:sp>
        <p:nvSpPr>
          <p:cNvPr id="32" name="Text 28"/>
          <p:cNvSpPr/>
          <p:nvPr/>
        </p:nvSpPr>
        <p:spPr>
          <a:xfrm>
            <a:off x="7679293" y="3378092"/>
            <a:ext cx="6277808" cy="212884"/>
          </a:xfrm>
          <a:prstGeom prst="rect">
            <a:avLst/>
          </a:prstGeom>
          <a:noFill/>
          <a:ln/>
        </p:spPr>
        <p:txBody>
          <a:bodyPr wrap="none" lIns="0" tIns="0" rIns="0" bIns="0" rtlCol="0" anchor="t"/>
          <a:lstStyle/>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Optional frontend hosting with fast global CDN and easy </a:t>
            </a:r>
          </a:p>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deployment for React applications.</a:t>
            </a:r>
            <a:endParaRPr lang="en-US" dirty="0">
              <a:latin typeface="Times New Roman" panose="02020603050405020304" pitchFamily="18" charset="0"/>
              <a:cs typeface="Times New Roman" panose="02020603050405020304" pitchFamily="18" charset="0"/>
            </a:endParaRPr>
          </a:p>
        </p:txBody>
      </p:sp>
      <p:sp>
        <p:nvSpPr>
          <p:cNvPr id="33" name="Text 29"/>
          <p:cNvSpPr/>
          <p:nvPr/>
        </p:nvSpPr>
        <p:spPr>
          <a:xfrm>
            <a:off x="4781838" y="5481638"/>
            <a:ext cx="3106222" cy="274558"/>
          </a:xfrm>
          <a:prstGeom prst="rect">
            <a:avLst/>
          </a:prstGeom>
          <a:noFill/>
          <a:ln/>
        </p:spPr>
        <p:txBody>
          <a:bodyPr wrap="none" lIns="0" tIns="0" rIns="0" bIns="0" rtlCol="0" anchor="t"/>
          <a:lstStyle/>
          <a:p>
            <a:pPr marL="0" indent="0" algn="l">
              <a:lnSpc>
                <a:spcPts val="2150"/>
              </a:lnSpc>
              <a:buNone/>
            </a:pPr>
            <a:r>
              <a:rPr lang="en-US" sz="3200" b="1" dirty="0">
                <a:solidFill>
                  <a:srgbClr val="7030A0"/>
                </a:solidFill>
                <a:latin typeface="Times New Roman" panose="02020603050405020304" pitchFamily="18" charset="0"/>
                <a:ea typeface="Petrona Bold" pitchFamily="34" charset="-122"/>
                <a:cs typeface="Times New Roman" panose="02020603050405020304" pitchFamily="18" charset="0"/>
              </a:rPr>
              <a:t>Additional Technical Elements</a:t>
            </a:r>
            <a:endParaRPr lang="en-US" sz="3200" dirty="0">
              <a:solidFill>
                <a:srgbClr val="7030A0"/>
              </a:solidFill>
              <a:latin typeface="Times New Roman" panose="02020603050405020304" pitchFamily="18" charset="0"/>
              <a:cs typeface="Times New Roman" panose="02020603050405020304" pitchFamily="18" charset="0"/>
            </a:endParaRPr>
          </a:p>
        </p:txBody>
      </p:sp>
      <p:sp>
        <p:nvSpPr>
          <p:cNvPr id="34" name="Shape 30"/>
          <p:cNvSpPr/>
          <p:nvPr/>
        </p:nvSpPr>
        <p:spPr>
          <a:xfrm>
            <a:off x="306656" y="6248223"/>
            <a:ext cx="299561" cy="299561"/>
          </a:xfrm>
          <a:prstGeom prst="roundRect">
            <a:avLst>
              <a:gd name="adj" fmla="val 18670"/>
            </a:avLst>
          </a:prstGeom>
          <a:solidFill>
            <a:srgbClr val="E0D7F4"/>
          </a:solidFill>
          <a:ln w="7620">
            <a:solidFill>
              <a:srgbClr val="C6BDDA"/>
            </a:solidFill>
            <a:prstDash val="solid"/>
          </a:ln>
        </p:spPr>
      </p:sp>
      <p:pic>
        <p:nvPicPr>
          <p:cNvPr id="3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6601" y="6288109"/>
            <a:ext cx="219670" cy="219670"/>
          </a:xfrm>
          <a:prstGeom prst="rect">
            <a:avLst/>
          </a:prstGeom>
        </p:spPr>
      </p:pic>
      <p:sp>
        <p:nvSpPr>
          <p:cNvPr id="36" name="Text 31"/>
          <p:cNvSpPr/>
          <p:nvPr/>
        </p:nvSpPr>
        <p:spPr>
          <a:xfrm>
            <a:off x="739329" y="6293943"/>
            <a:ext cx="1830943" cy="228838"/>
          </a:xfrm>
          <a:prstGeom prst="rect">
            <a:avLst/>
          </a:prstGeom>
          <a:noFill/>
          <a:ln/>
        </p:spPr>
        <p:txBody>
          <a:bodyPr wrap="none" lIns="0" tIns="0" rIns="0" bIns="0" rtlCol="0" anchor="t"/>
          <a:lstStyle/>
          <a:p>
            <a:pPr marL="0" indent="0" algn="l">
              <a:lnSpc>
                <a:spcPts val="18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API Integration</a:t>
            </a:r>
            <a:endParaRPr lang="en-US" sz="2400" dirty="0">
              <a:latin typeface="Times New Roman" panose="02020603050405020304" pitchFamily="18" charset="0"/>
              <a:cs typeface="Times New Roman" panose="02020603050405020304" pitchFamily="18" charset="0"/>
            </a:endParaRPr>
          </a:p>
        </p:txBody>
      </p:sp>
      <p:sp>
        <p:nvSpPr>
          <p:cNvPr id="37" name="Text 32"/>
          <p:cNvSpPr/>
          <p:nvPr/>
        </p:nvSpPr>
        <p:spPr>
          <a:xfrm>
            <a:off x="739329" y="6602673"/>
            <a:ext cx="3978116" cy="425768"/>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Ticket availability APIs, museum event schedules, and external tourism data connections.</a:t>
            </a:r>
            <a:endParaRPr lang="en-US" dirty="0">
              <a:latin typeface="Times New Roman" panose="02020603050405020304" pitchFamily="18" charset="0"/>
              <a:cs typeface="Times New Roman" panose="02020603050405020304" pitchFamily="18" charset="0"/>
            </a:endParaRPr>
          </a:p>
        </p:txBody>
      </p:sp>
      <p:sp>
        <p:nvSpPr>
          <p:cNvPr id="38" name="Shape 33"/>
          <p:cNvSpPr/>
          <p:nvPr/>
        </p:nvSpPr>
        <p:spPr>
          <a:xfrm>
            <a:off x="4883894" y="6248223"/>
            <a:ext cx="299561" cy="299561"/>
          </a:xfrm>
          <a:prstGeom prst="roundRect">
            <a:avLst>
              <a:gd name="adj" fmla="val 18670"/>
            </a:avLst>
          </a:prstGeom>
          <a:solidFill>
            <a:srgbClr val="E0D7F4"/>
          </a:solidFill>
          <a:ln w="7620">
            <a:solidFill>
              <a:srgbClr val="C6BDDA"/>
            </a:solidFill>
            <a:prstDash val="solid"/>
          </a:ln>
        </p:spPr>
      </p:sp>
      <p:pic>
        <p:nvPicPr>
          <p:cNvPr id="3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23840" y="6288109"/>
            <a:ext cx="219670" cy="219670"/>
          </a:xfrm>
          <a:prstGeom prst="rect">
            <a:avLst/>
          </a:prstGeom>
        </p:spPr>
      </p:pic>
      <p:sp>
        <p:nvSpPr>
          <p:cNvPr id="40" name="Text 34"/>
          <p:cNvSpPr/>
          <p:nvPr/>
        </p:nvSpPr>
        <p:spPr>
          <a:xfrm>
            <a:off x="5316567" y="6293943"/>
            <a:ext cx="1830943" cy="228838"/>
          </a:xfrm>
          <a:prstGeom prst="rect">
            <a:avLst/>
          </a:prstGeom>
          <a:noFill/>
          <a:ln/>
        </p:spPr>
        <p:txBody>
          <a:bodyPr wrap="none" lIns="0" tIns="0" rIns="0" bIns="0" rtlCol="0" anchor="t"/>
          <a:lstStyle/>
          <a:p>
            <a:pPr marL="0" indent="0" algn="l">
              <a:lnSpc>
                <a:spcPts val="18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Payment Gateway</a:t>
            </a:r>
            <a:endParaRPr lang="en-US" sz="2400" dirty="0">
              <a:latin typeface="Times New Roman" panose="02020603050405020304" pitchFamily="18" charset="0"/>
              <a:cs typeface="Times New Roman" panose="02020603050405020304" pitchFamily="18" charset="0"/>
            </a:endParaRPr>
          </a:p>
        </p:txBody>
      </p:sp>
      <p:sp>
        <p:nvSpPr>
          <p:cNvPr id="41" name="Text 35"/>
          <p:cNvSpPr/>
          <p:nvPr/>
        </p:nvSpPr>
        <p:spPr>
          <a:xfrm>
            <a:off x="5316567" y="6602673"/>
            <a:ext cx="3978116" cy="638651"/>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Razorpay / Stripe / PayPal integration for secure transactions with payment confirmation triggering automatic ticket generation.</a:t>
            </a:r>
            <a:endParaRPr lang="en-US" dirty="0">
              <a:latin typeface="Times New Roman" panose="02020603050405020304" pitchFamily="18" charset="0"/>
              <a:cs typeface="Times New Roman" panose="02020603050405020304" pitchFamily="18" charset="0"/>
            </a:endParaRPr>
          </a:p>
        </p:txBody>
      </p:sp>
      <p:sp>
        <p:nvSpPr>
          <p:cNvPr id="42" name="Shape 36"/>
          <p:cNvSpPr/>
          <p:nvPr/>
        </p:nvSpPr>
        <p:spPr>
          <a:xfrm>
            <a:off x="9461133" y="6248223"/>
            <a:ext cx="299561" cy="299561"/>
          </a:xfrm>
          <a:prstGeom prst="roundRect">
            <a:avLst>
              <a:gd name="adj" fmla="val 18670"/>
            </a:avLst>
          </a:prstGeom>
          <a:solidFill>
            <a:srgbClr val="E0D7F4"/>
          </a:solidFill>
          <a:ln w="7620">
            <a:solidFill>
              <a:srgbClr val="C6BDDA"/>
            </a:solidFill>
            <a:prstDash val="solid"/>
          </a:ln>
        </p:spPr>
      </p:sp>
      <p:pic>
        <p:nvPicPr>
          <p:cNvPr id="4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01079" y="6288109"/>
            <a:ext cx="219670" cy="219670"/>
          </a:xfrm>
          <a:prstGeom prst="rect">
            <a:avLst/>
          </a:prstGeom>
        </p:spPr>
      </p:pic>
      <p:sp>
        <p:nvSpPr>
          <p:cNvPr id="44" name="Text 37"/>
          <p:cNvSpPr/>
          <p:nvPr/>
        </p:nvSpPr>
        <p:spPr>
          <a:xfrm>
            <a:off x="9893806" y="6293943"/>
            <a:ext cx="2014538" cy="228838"/>
          </a:xfrm>
          <a:prstGeom prst="rect">
            <a:avLst/>
          </a:prstGeom>
          <a:noFill/>
          <a:ln/>
        </p:spPr>
        <p:txBody>
          <a:bodyPr wrap="none" lIns="0" tIns="0" rIns="0" bIns="0" rtlCol="0" anchor="t"/>
          <a:lstStyle/>
          <a:p>
            <a:pPr marL="0" indent="0" algn="l">
              <a:lnSpc>
                <a:spcPts val="1800"/>
              </a:lnSpc>
              <a:buNone/>
            </a:pPr>
            <a:r>
              <a:rPr lang="en-US" sz="2400" b="1" dirty="0">
                <a:solidFill>
                  <a:srgbClr val="272525"/>
                </a:solidFill>
                <a:latin typeface="Times New Roman" panose="02020603050405020304" pitchFamily="18" charset="0"/>
                <a:ea typeface="Petrona Bold" pitchFamily="34" charset="-122"/>
                <a:cs typeface="Times New Roman" panose="02020603050405020304" pitchFamily="18" charset="0"/>
              </a:rPr>
              <a:t>Authentication Services</a:t>
            </a:r>
            <a:endParaRPr lang="en-US" sz="2400" dirty="0">
              <a:latin typeface="Times New Roman" panose="02020603050405020304" pitchFamily="18" charset="0"/>
              <a:cs typeface="Times New Roman" panose="02020603050405020304" pitchFamily="18" charset="0"/>
            </a:endParaRPr>
          </a:p>
        </p:txBody>
      </p:sp>
      <p:sp>
        <p:nvSpPr>
          <p:cNvPr id="45" name="Text 38"/>
          <p:cNvSpPr/>
          <p:nvPr/>
        </p:nvSpPr>
        <p:spPr>
          <a:xfrm>
            <a:off x="9893806" y="6602673"/>
            <a:ext cx="3978116" cy="425768"/>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Firebase Auth with role-based access control for visitors, administrators, and staff members.</a:t>
            </a:r>
            <a:endParaRPr lang="en-US" dirty="0">
              <a:latin typeface="Times New Roman" panose="02020603050405020304" pitchFamily="18" charset="0"/>
              <a:cs typeface="Times New Roman" panose="02020603050405020304" pitchFamily="18" charset="0"/>
            </a:endParaRPr>
          </a:p>
        </p:txBody>
      </p:sp>
      <p:pic>
        <p:nvPicPr>
          <p:cNvPr id="47" name="Picture 46">
            <a:extLst>
              <a:ext uri="{FF2B5EF4-FFF2-40B4-BE49-F238E27FC236}">
                <a16:creationId xmlns:a16="http://schemas.microsoft.com/office/drawing/2014/main" id="{E9BB898F-4CFA-AEC0-ECFB-A1ED4093F715}"/>
              </a:ext>
            </a:extLst>
          </p:cNvPr>
          <p:cNvPicPr>
            <a:picLocks noChangeAspect="1"/>
          </p:cNvPicPr>
          <p:nvPr/>
        </p:nvPicPr>
        <p:blipFill>
          <a:blip r:embed="rId8"/>
          <a:stretch>
            <a:fillRect/>
          </a:stretch>
        </p:blipFill>
        <p:spPr>
          <a:xfrm>
            <a:off x="12296775" y="7700004"/>
            <a:ext cx="2333625" cy="428625"/>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8746A467-FF33-C061-B835-C399CB33EE4F}"/>
              </a:ext>
            </a:extLst>
          </p:cNvPr>
          <p:cNvSpPr/>
          <p:nvPr/>
        </p:nvSpPr>
        <p:spPr>
          <a:xfrm>
            <a:off x="645459" y="4267200"/>
            <a:ext cx="6545678" cy="2189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BE281732-ED21-A046-ED63-1FD8B54210C7}"/>
              </a:ext>
            </a:extLst>
          </p:cNvPr>
          <p:cNvSpPr/>
          <p:nvPr/>
        </p:nvSpPr>
        <p:spPr>
          <a:xfrm>
            <a:off x="7347606" y="4281337"/>
            <a:ext cx="6545678" cy="2189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EFD39737-DE6F-55FD-C3BB-5AB740F0FB2E}"/>
              </a:ext>
            </a:extLst>
          </p:cNvPr>
          <p:cNvSpPr/>
          <p:nvPr/>
        </p:nvSpPr>
        <p:spPr>
          <a:xfrm>
            <a:off x="7347606" y="1925619"/>
            <a:ext cx="6545678" cy="2189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E50446B-AC75-E109-6E20-C31D9CEFD14D}"/>
              </a:ext>
            </a:extLst>
          </p:cNvPr>
          <p:cNvSpPr/>
          <p:nvPr/>
        </p:nvSpPr>
        <p:spPr>
          <a:xfrm>
            <a:off x="645459" y="1925619"/>
            <a:ext cx="6545678" cy="2189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p:nvPr/>
        </p:nvSpPr>
        <p:spPr>
          <a:xfrm>
            <a:off x="3858696" y="664548"/>
            <a:ext cx="6913007" cy="682228"/>
          </a:xfrm>
          <a:prstGeom prst="rect">
            <a:avLst/>
          </a:prstGeom>
          <a:noFill/>
          <a:ln/>
        </p:spPr>
        <p:txBody>
          <a:bodyPr wrap="none" lIns="0" tIns="0" rIns="0" bIns="0" rtlCol="0" anchor="t"/>
          <a:lstStyle/>
          <a:p>
            <a:pPr marL="0" indent="0" algn="l">
              <a:lnSpc>
                <a:spcPts val="5350"/>
              </a:lnSpc>
              <a:buNone/>
            </a:pPr>
            <a:r>
              <a:rPr lang="en-US" sz="425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IoT &amp; Hardware Integration</a:t>
            </a:r>
            <a:endParaRPr lang="en-US" sz="425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793790" y="2240399"/>
            <a:ext cx="2874764"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Petrona Bold" pitchFamily="34" charset="-122"/>
                <a:cs typeface="Times New Roman" panose="02020603050405020304" pitchFamily="18" charset="0"/>
              </a:rPr>
              <a:t>ESP32 Main Controller</a:t>
            </a:r>
            <a:endParaRPr lang="en-US" sz="2100" dirty="0">
              <a:latin typeface="Times New Roman" panose="02020603050405020304" pitchFamily="18" charset="0"/>
              <a:cs typeface="Times New Roman" panose="02020603050405020304" pitchFamily="18" charset="0"/>
            </a:endParaRPr>
          </a:p>
        </p:txBody>
      </p:sp>
      <p:sp>
        <p:nvSpPr>
          <p:cNvPr id="4" name="Text 2"/>
          <p:cNvSpPr/>
          <p:nvPr/>
        </p:nvSpPr>
        <p:spPr>
          <a:xfrm>
            <a:off x="793790" y="2700576"/>
            <a:ext cx="63973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Inter" pitchFamily="34" charset="-122"/>
                <a:cs typeface="Times New Roman" panose="02020603050405020304" pitchFamily="18" charset="0"/>
              </a:rPr>
              <a:t>Central hardware controller with WiFi connectivity. Sends sensor data to backend and controls connected devices including ultrasonic sensor, IR sensor, RFID reader, and servo motor.</a:t>
            </a:r>
            <a:endParaRPr lang="en-US" sz="1550" dirty="0">
              <a:latin typeface="Times New Roman" panose="02020603050405020304" pitchFamily="18" charset="0"/>
              <a:cs typeface="Times New Roman" panose="02020603050405020304" pitchFamily="18" charset="0"/>
            </a:endParaRPr>
          </a:p>
        </p:txBody>
      </p:sp>
      <p:sp>
        <p:nvSpPr>
          <p:cNvPr id="5" name="Text 3"/>
          <p:cNvSpPr/>
          <p:nvPr/>
        </p:nvSpPr>
        <p:spPr>
          <a:xfrm>
            <a:off x="7525206" y="2218883"/>
            <a:ext cx="3447574"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Petrona Bold" pitchFamily="34" charset="-122"/>
                <a:cs typeface="Times New Roman" panose="02020603050405020304" pitchFamily="18" charset="0"/>
              </a:rPr>
              <a:t>HC-SR04 Ultrasonic Sensor</a:t>
            </a: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7568235" y="2700576"/>
            <a:ext cx="639746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Inter" pitchFamily="34" charset="-122"/>
                <a:cs typeface="Times New Roman" panose="02020603050405020304" pitchFamily="18" charset="0"/>
              </a:rPr>
              <a:t>Visitor counting and distance measurement. Detects entry/exit events and updates live visitor count to Firebase for real-time crowd monitoring.</a:t>
            </a:r>
            <a:endParaRPr lang="en-US" sz="1550" dirty="0">
              <a:latin typeface="Times New Roman" panose="02020603050405020304" pitchFamily="18" charset="0"/>
              <a:cs typeface="Times New Roman" panose="02020603050405020304" pitchFamily="18" charset="0"/>
            </a:endParaRPr>
          </a:p>
        </p:txBody>
      </p:sp>
      <p:sp>
        <p:nvSpPr>
          <p:cNvPr id="7" name="Text 5"/>
          <p:cNvSpPr/>
          <p:nvPr/>
        </p:nvSpPr>
        <p:spPr>
          <a:xfrm>
            <a:off x="866715" y="435513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Petrona Bold" pitchFamily="34" charset="-122"/>
                <a:cs typeface="Times New Roman" panose="02020603050405020304" pitchFamily="18" charset="0"/>
              </a:rPr>
              <a:t>RFID RC522 Module</a:t>
            </a:r>
            <a:endParaRPr lang="en-US" sz="2100" dirty="0">
              <a:latin typeface="Times New Roman" panose="02020603050405020304" pitchFamily="18" charset="0"/>
              <a:cs typeface="Times New Roman" panose="02020603050405020304" pitchFamily="18" charset="0"/>
            </a:endParaRPr>
          </a:p>
        </p:txBody>
      </p:sp>
      <p:sp>
        <p:nvSpPr>
          <p:cNvPr id="8" name="Text 6"/>
          <p:cNvSpPr/>
          <p:nvPr/>
        </p:nvSpPr>
        <p:spPr>
          <a:xfrm>
            <a:off x="847580" y="4812004"/>
            <a:ext cx="63973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Inter" pitchFamily="34" charset="-122"/>
                <a:cs typeface="Times New Roman" panose="02020603050405020304" pitchFamily="18" charset="0"/>
              </a:rPr>
              <a:t>Ticket validation system. Scans RFID cards or wristbands, verifies ticket authenticity against Firebase database, and allows entry if valid.</a:t>
            </a:r>
            <a:endParaRPr lang="en-US" sz="1550" dirty="0">
              <a:latin typeface="Times New Roman" panose="02020603050405020304" pitchFamily="18" charset="0"/>
              <a:cs typeface="Times New Roman" panose="02020603050405020304" pitchFamily="18" charset="0"/>
            </a:endParaRPr>
          </a:p>
        </p:txBody>
      </p:sp>
      <p:sp>
        <p:nvSpPr>
          <p:cNvPr id="9" name="Text 7"/>
          <p:cNvSpPr/>
          <p:nvPr/>
        </p:nvSpPr>
        <p:spPr>
          <a:xfrm>
            <a:off x="7514450" y="436258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Times New Roman" panose="02020603050405020304" pitchFamily="18" charset="0"/>
                <a:ea typeface="Petrona Bold" pitchFamily="34" charset="-122"/>
                <a:cs typeface="Times New Roman" panose="02020603050405020304" pitchFamily="18" charset="0"/>
              </a:rPr>
              <a:t>Servo Motor SG90</a:t>
            </a:r>
            <a:endParaRPr lang="en-US" sz="2100" dirty="0">
              <a:latin typeface="Times New Roman" panose="02020603050405020304" pitchFamily="18" charset="0"/>
              <a:cs typeface="Times New Roman" panose="02020603050405020304" pitchFamily="18" charset="0"/>
            </a:endParaRPr>
          </a:p>
        </p:txBody>
      </p:sp>
      <p:sp>
        <p:nvSpPr>
          <p:cNvPr id="10" name="Text 8"/>
          <p:cNvSpPr/>
          <p:nvPr/>
        </p:nvSpPr>
        <p:spPr>
          <a:xfrm>
            <a:off x="7535966" y="4758214"/>
            <a:ext cx="639746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Inter" pitchFamily="34" charset="-122"/>
                <a:cs typeface="Times New Roman" panose="02020603050405020304" pitchFamily="18" charset="0"/>
              </a:rPr>
              <a:t>Physical access control. Opens and closes entry gates, controls mechanical barriers, and provides automated access control based on ticket validation.</a:t>
            </a:r>
            <a:endParaRPr lang="en-US" sz="155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827ED25-4E5C-5D02-28E1-1D101AF27F78}"/>
              </a:ext>
            </a:extLst>
          </p:cNvPr>
          <p:cNvPicPr>
            <a:picLocks noChangeAspect="1"/>
          </p:cNvPicPr>
          <p:nvPr/>
        </p:nvPicPr>
        <p:blipFill>
          <a:blip r:embed="rId3"/>
          <a:stretch>
            <a:fillRect/>
          </a:stretch>
        </p:blipFill>
        <p:spPr>
          <a:xfrm>
            <a:off x="12296775" y="7687179"/>
            <a:ext cx="2333625" cy="42862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09010" y="350568"/>
            <a:ext cx="5637848" cy="429816"/>
          </a:xfrm>
          <a:prstGeom prst="rect">
            <a:avLst/>
          </a:prstGeom>
          <a:noFill/>
          <a:ln/>
        </p:spPr>
        <p:txBody>
          <a:bodyPr wrap="none" lIns="0" tIns="0" rIns="0" bIns="0" rtlCol="0" anchor="t"/>
          <a:lstStyle/>
          <a:p>
            <a:pPr marL="0" indent="0">
              <a:buNone/>
            </a:pPr>
            <a:r>
              <a:rPr lang="en-US" sz="3200" b="1">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Work Process: </a:t>
            </a:r>
            <a:r>
              <a:rPr lang="en-US" sz="32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System Architecture</a:t>
            </a:r>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500182" y="1013817"/>
            <a:ext cx="2992041" cy="257889"/>
          </a:xfrm>
          <a:prstGeom prst="rect">
            <a:avLst/>
          </a:prstGeom>
          <a:noFill/>
          <a:ln/>
        </p:spPr>
        <p:txBody>
          <a:bodyPr wrap="none" lIns="0" tIns="0" rIns="0" bIns="0" rtlCol="0" anchor="t"/>
          <a:lstStyle/>
          <a:p>
            <a:pPr marL="0" indent="0" algn="l">
              <a:buNone/>
            </a:pPr>
            <a:r>
              <a:rPr lang="en-US" sz="2400" b="1" dirty="0">
                <a:solidFill>
                  <a:srgbClr val="7030A0"/>
                </a:solidFill>
                <a:latin typeface="Times New Roman" panose="02020603050405020304" pitchFamily="18" charset="0"/>
                <a:ea typeface="Petrona Bold" pitchFamily="34" charset="-122"/>
                <a:cs typeface="Times New Roman" panose="02020603050405020304" pitchFamily="18" charset="0"/>
              </a:rPr>
              <a:t>Integrated System Methodology</a:t>
            </a:r>
            <a:endParaRPr lang="en-US" sz="2400" dirty="0">
              <a:solidFill>
                <a:srgbClr val="7030A0"/>
              </a:solidFill>
              <a:latin typeface="Times New Roman" panose="02020603050405020304" pitchFamily="18" charset="0"/>
              <a:cs typeface="Times New Roman" panose="02020603050405020304" pitchFamily="18" charset="0"/>
            </a:endParaRPr>
          </a:p>
        </p:txBody>
      </p:sp>
      <p:sp>
        <p:nvSpPr>
          <p:cNvPr id="4" name="Text 2"/>
          <p:cNvSpPr/>
          <p:nvPr/>
        </p:nvSpPr>
        <p:spPr>
          <a:xfrm>
            <a:off x="500182" y="1459230"/>
            <a:ext cx="13630037" cy="400050"/>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The proposed system combines AI, cloud computing, real-time databases, web technologies, and IoT hardware into a unified solution that enhances visitor experience, automates museum operations, and provides real-time monitoring and control.</a:t>
            </a:r>
            <a:endParaRPr lang="en-US" dirty="0">
              <a:latin typeface="Times New Roman" panose="02020603050405020304" pitchFamily="18" charset="0"/>
              <a:cs typeface="Times New Roman" panose="02020603050405020304" pitchFamily="18" charset="0"/>
            </a:endParaRPr>
          </a:p>
        </p:txBody>
      </p:sp>
      <p:sp>
        <p:nvSpPr>
          <p:cNvPr id="5" name="Shape 3"/>
          <p:cNvSpPr/>
          <p:nvPr/>
        </p:nvSpPr>
        <p:spPr>
          <a:xfrm>
            <a:off x="625197" y="2187416"/>
            <a:ext cx="125016" cy="752356"/>
          </a:xfrm>
          <a:prstGeom prst="roundRect">
            <a:avLst>
              <a:gd name="adj" fmla="val 42012"/>
            </a:avLst>
          </a:prstGeom>
          <a:solidFill>
            <a:srgbClr val="E0D7F4"/>
          </a:solidFill>
          <a:ln w="7620">
            <a:solidFill>
              <a:srgbClr val="C6BDDA"/>
            </a:solidFill>
            <a:prstDash val="solid"/>
          </a:ln>
        </p:spPr>
      </p:sp>
      <p:sp>
        <p:nvSpPr>
          <p:cNvPr id="6" name="Shape 4"/>
          <p:cNvSpPr/>
          <p:nvPr/>
        </p:nvSpPr>
        <p:spPr>
          <a:xfrm>
            <a:off x="500182" y="2105382"/>
            <a:ext cx="375047" cy="375047"/>
          </a:xfrm>
          <a:prstGeom prst="roundRect">
            <a:avLst>
              <a:gd name="adj" fmla="val 121905"/>
            </a:avLst>
          </a:prstGeom>
          <a:solidFill>
            <a:srgbClr val="E0D7F4"/>
          </a:solidFill>
          <a:ln w="7620">
            <a:solidFill>
              <a:srgbClr val="C6BDDA"/>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884" y="2199203"/>
            <a:ext cx="187523" cy="187523"/>
          </a:xfrm>
          <a:prstGeom prst="rect">
            <a:avLst/>
          </a:prstGeom>
        </p:spPr>
      </p:pic>
      <p:sp>
        <p:nvSpPr>
          <p:cNvPr id="8" name="Text 5"/>
          <p:cNvSpPr/>
          <p:nvPr/>
        </p:nvSpPr>
        <p:spPr>
          <a:xfrm>
            <a:off x="1000244" y="2124908"/>
            <a:ext cx="1791533"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Frontend Layer (</a:t>
            </a:r>
            <a:r>
              <a:rPr lang="en-US" b="1" dirty="0" err="1">
                <a:solidFill>
                  <a:srgbClr val="272525"/>
                </a:solidFill>
                <a:latin typeface="Times New Roman" panose="02020603050405020304" pitchFamily="18" charset="0"/>
                <a:ea typeface="Petrona Bold" pitchFamily="34" charset="-122"/>
                <a:cs typeface="Times New Roman" panose="02020603050405020304" pitchFamily="18" charset="0"/>
              </a:rPr>
              <a:t>Next.Js</a:t>
            </a: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6"/>
          <p:cNvSpPr/>
          <p:nvPr/>
        </p:nvSpPr>
        <p:spPr>
          <a:xfrm>
            <a:off x="1000244" y="2414826"/>
            <a:ext cx="13129974" cy="400050"/>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Fast, responsive user interface for visitors and administrators. Visitors register, interact with chatbot, browse information, book tickets, and complete payments. Admins monitor visitor counts, bookings, sensor data, and chatbot interactions in real time.</a:t>
            </a:r>
            <a:endParaRPr lang="en-US" dirty="0">
              <a:latin typeface="Times New Roman" panose="02020603050405020304" pitchFamily="18" charset="0"/>
              <a:cs typeface="Times New Roman" panose="02020603050405020304" pitchFamily="18" charset="0"/>
            </a:endParaRPr>
          </a:p>
        </p:txBody>
      </p:sp>
      <p:sp>
        <p:nvSpPr>
          <p:cNvPr id="10" name="Shape 7"/>
          <p:cNvSpPr/>
          <p:nvPr/>
        </p:nvSpPr>
        <p:spPr>
          <a:xfrm>
            <a:off x="645455" y="3252430"/>
            <a:ext cx="125016" cy="752356"/>
          </a:xfrm>
          <a:prstGeom prst="roundRect">
            <a:avLst>
              <a:gd name="adj" fmla="val 42012"/>
            </a:avLst>
          </a:prstGeom>
          <a:solidFill>
            <a:srgbClr val="E0D7F4"/>
          </a:solidFill>
          <a:ln w="7620">
            <a:solidFill>
              <a:srgbClr val="C6BDDA"/>
            </a:solidFill>
            <a:prstDash val="solid"/>
          </a:ln>
        </p:spPr>
      </p:sp>
      <p:sp>
        <p:nvSpPr>
          <p:cNvPr id="11" name="Shape 8"/>
          <p:cNvSpPr/>
          <p:nvPr/>
        </p:nvSpPr>
        <p:spPr>
          <a:xfrm>
            <a:off x="520439" y="3170396"/>
            <a:ext cx="375047" cy="375047"/>
          </a:xfrm>
          <a:prstGeom prst="roundRect">
            <a:avLst>
              <a:gd name="adj" fmla="val 121905"/>
            </a:avLst>
          </a:prstGeom>
          <a:solidFill>
            <a:srgbClr val="E0D7F4"/>
          </a:solidFill>
          <a:ln w="7620">
            <a:solidFill>
              <a:srgbClr val="C6BDDA"/>
            </a:solidFill>
            <a:prstDash val="solid"/>
          </a:ln>
        </p:spPr>
      </p:sp>
      <p:pic>
        <p:nvPicPr>
          <p:cNvPr id="12" name="Image 1" descr="preencoded.png"/>
          <p:cNvPicPr>
            <a:picLocks noChangeAspect="1"/>
          </p:cNvPicPr>
          <p:nvPr/>
        </p:nvPicPr>
        <p:blipFill>
          <a:blip r:embed="rId4"/>
          <a:stretch>
            <a:fillRect/>
          </a:stretch>
        </p:blipFill>
        <p:spPr>
          <a:xfrm>
            <a:off x="614141" y="3264218"/>
            <a:ext cx="187523" cy="187523"/>
          </a:xfrm>
          <a:prstGeom prst="rect">
            <a:avLst/>
          </a:prstGeom>
        </p:spPr>
      </p:pic>
      <p:sp>
        <p:nvSpPr>
          <p:cNvPr id="13" name="Text 9"/>
          <p:cNvSpPr/>
          <p:nvPr/>
        </p:nvSpPr>
        <p:spPr>
          <a:xfrm>
            <a:off x="1020502" y="3189923"/>
            <a:ext cx="1893332"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Backend Layer (Node.js)</a:t>
            </a:r>
            <a:endParaRPr lang="en-US" dirty="0">
              <a:latin typeface="Times New Roman" panose="02020603050405020304" pitchFamily="18" charset="0"/>
              <a:cs typeface="Times New Roman" panose="02020603050405020304" pitchFamily="18" charset="0"/>
            </a:endParaRPr>
          </a:p>
        </p:txBody>
      </p:sp>
      <p:sp>
        <p:nvSpPr>
          <p:cNvPr id="14" name="Text 10"/>
          <p:cNvSpPr/>
          <p:nvPr/>
        </p:nvSpPr>
        <p:spPr>
          <a:xfrm>
            <a:off x="1020502" y="3479840"/>
            <a:ext cx="12942451" cy="400050"/>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Central coordination layer handling incoming requests, validating authentication, executing business logic, and communicating with chatbot engine, NLP modules, databases, payment gateways, and IoT devices through secure REST APIs.</a:t>
            </a:r>
            <a:endParaRPr lang="en-US" dirty="0">
              <a:latin typeface="Times New Roman" panose="02020603050405020304" pitchFamily="18" charset="0"/>
              <a:cs typeface="Times New Roman" panose="02020603050405020304" pitchFamily="18" charset="0"/>
            </a:endParaRPr>
          </a:p>
        </p:txBody>
      </p:sp>
      <p:sp>
        <p:nvSpPr>
          <p:cNvPr id="15" name="Shape 11"/>
          <p:cNvSpPr/>
          <p:nvPr/>
        </p:nvSpPr>
        <p:spPr>
          <a:xfrm>
            <a:off x="654562" y="4317444"/>
            <a:ext cx="125016" cy="752356"/>
          </a:xfrm>
          <a:prstGeom prst="roundRect">
            <a:avLst>
              <a:gd name="adj" fmla="val 42012"/>
            </a:avLst>
          </a:prstGeom>
          <a:solidFill>
            <a:srgbClr val="E0D7F4"/>
          </a:solidFill>
          <a:ln w="7620">
            <a:solidFill>
              <a:srgbClr val="C6BDDA"/>
            </a:solidFill>
            <a:prstDash val="solid"/>
          </a:ln>
        </p:spPr>
      </p:sp>
      <p:sp>
        <p:nvSpPr>
          <p:cNvPr id="16" name="Shape 12"/>
          <p:cNvSpPr/>
          <p:nvPr/>
        </p:nvSpPr>
        <p:spPr>
          <a:xfrm>
            <a:off x="529546" y="4235410"/>
            <a:ext cx="375047" cy="375047"/>
          </a:xfrm>
          <a:prstGeom prst="roundRect">
            <a:avLst>
              <a:gd name="adj" fmla="val 121905"/>
            </a:avLst>
          </a:prstGeom>
          <a:solidFill>
            <a:srgbClr val="E0D7F4"/>
          </a:solidFill>
          <a:ln w="7620">
            <a:solidFill>
              <a:srgbClr val="C6BDDA"/>
            </a:solidFill>
            <a:prstDash val="solid"/>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249" y="4329232"/>
            <a:ext cx="187523" cy="187523"/>
          </a:xfrm>
          <a:prstGeom prst="rect">
            <a:avLst/>
          </a:prstGeom>
        </p:spPr>
      </p:pic>
      <p:sp>
        <p:nvSpPr>
          <p:cNvPr id="18" name="Text 13"/>
          <p:cNvSpPr/>
          <p:nvPr/>
        </p:nvSpPr>
        <p:spPr>
          <a:xfrm>
            <a:off x="1029609" y="4254937"/>
            <a:ext cx="1911548"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AI &amp; NLP Layer (Python)</a:t>
            </a:r>
            <a:endParaRPr lang="en-US" dirty="0">
              <a:latin typeface="Times New Roman" panose="02020603050405020304" pitchFamily="18" charset="0"/>
              <a:cs typeface="Times New Roman" panose="02020603050405020304" pitchFamily="18" charset="0"/>
            </a:endParaRPr>
          </a:p>
        </p:txBody>
      </p:sp>
      <p:sp>
        <p:nvSpPr>
          <p:cNvPr id="19" name="Text 14"/>
          <p:cNvSpPr/>
          <p:nvPr/>
        </p:nvSpPr>
        <p:spPr>
          <a:xfrm>
            <a:off x="1029609" y="4544854"/>
            <a:ext cx="12754927" cy="400050"/>
          </a:xfrm>
          <a:prstGeom prst="rect">
            <a:avLst/>
          </a:prstGeom>
          <a:noFill/>
          <a:ln/>
        </p:spPr>
        <p:txBody>
          <a:bodyPr wrap="squar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ChatterBot engine generates intelligent responses using museum-specific datasets. spaCy performs tokenization, lemmatization, intent detection, and entity extraction for higher accuracy and better understanding of user intent.</a:t>
            </a:r>
            <a:endParaRPr lang="en-US" dirty="0">
              <a:latin typeface="Times New Roman" panose="02020603050405020304" pitchFamily="18" charset="0"/>
              <a:cs typeface="Times New Roman" panose="02020603050405020304" pitchFamily="18" charset="0"/>
            </a:endParaRPr>
          </a:p>
        </p:txBody>
      </p:sp>
      <p:sp>
        <p:nvSpPr>
          <p:cNvPr id="20" name="Shape 15"/>
          <p:cNvSpPr/>
          <p:nvPr/>
        </p:nvSpPr>
        <p:spPr>
          <a:xfrm>
            <a:off x="663781" y="5382458"/>
            <a:ext cx="125016" cy="562570"/>
          </a:xfrm>
          <a:prstGeom prst="roundRect">
            <a:avLst>
              <a:gd name="adj" fmla="val 42012"/>
            </a:avLst>
          </a:prstGeom>
          <a:solidFill>
            <a:srgbClr val="E0D7F4"/>
          </a:solidFill>
          <a:ln w="7620">
            <a:solidFill>
              <a:srgbClr val="C6BDDA"/>
            </a:solidFill>
            <a:prstDash val="solid"/>
          </a:ln>
        </p:spPr>
      </p:sp>
      <p:sp>
        <p:nvSpPr>
          <p:cNvPr id="21" name="Shape 16"/>
          <p:cNvSpPr/>
          <p:nvPr/>
        </p:nvSpPr>
        <p:spPr>
          <a:xfrm>
            <a:off x="538765" y="5300424"/>
            <a:ext cx="375047" cy="375047"/>
          </a:xfrm>
          <a:prstGeom prst="roundRect">
            <a:avLst>
              <a:gd name="adj" fmla="val 121905"/>
            </a:avLst>
          </a:prstGeom>
          <a:solidFill>
            <a:srgbClr val="E0D7F4"/>
          </a:solidFill>
          <a:ln w="7620">
            <a:solidFill>
              <a:srgbClr val="C6BDDA"/>
            </a:solidFill>
            <a:prstDash val="solid"/>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2467" y="5394246"/>
            <a:ext cx="187523" cy="187523"/>
          </a:xfrm>
          <a:prstGeom prst="rect">
            <a:avLst/>
          </a:prstGeom>
        </p:spPr>
      </p:pic>
      <p:sp>
        <p:nvSpPr>
          <p:cNvPr id="23" name="Text 17"/>
          <p:cNvSpPr/>
          <p:nvPr/>
        </p:nvSpPr>
        <p:spPr>
          <a:xfrm>
            <a:off x="1038827" y="5319951"/>
            <a:ext cx="1719382"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Database Layer</a:t>
            </a:r>
            <a:endParaRPr lang="en-US" dirty="0">
              <a:latin typeface="Times New Roman" panose="02020603050405020304" pitchFamily="18" charset="0"/>
              <a:cs typeface="Times New Roman" panose="02020603050405020304" pitchFamily="18" charset="0"/>
            </a:endParaRPr>
          </a:p>
        </p:txBody>
      </p:sp>
      <p:sp>
        <p:nvSpPr>
          <p:cNvPr id="24" name="Text 18"/>
          <p:cNvSpPr/>
          <p:nvPr/>
        </p:nvSpPr>
        <p:spPr>
          <a:xfrm>
            <a:off x="1038827" y="5609868"/>
            <a:ext cx="12745709" cy="489942"/>
          </a:xfrm>
          <a:prstGeom prst="rect">
            <a:avLst/>
          </a:prstGeom>
          <a:noFill/>
          <a:ln/>
        </p:spPr>
        <p:txBody>
          <a:bodyPr wrap="none" lIns="0" tIns="0" rIns="0" bIns="0" rtlCol="0" anchor="t"/>
          <a:lstStyle/>
          <a:p>
            <a:pPr marL="0" indent="0" algn="l">
              <a:buNone/>
            </a:pPr>
            <a:r>
              <a:rPr lang="en-US" dirty="0" err="1">
                <a:solidFill>
                  <a:srgbClr val="272525"/>
                </a:solidFill>
                <a:latin typeface="Times New Roman" panose="02020603050405020304" pitchFamily="18" charset="0"/>
                <a:ea typeface="Inter" pitchFamily="34" charset="-122"/>
                <a:cs typeface="Times New Roman" panose="02020603050405020304" pitchFamily="18" charset="0"/>
              </a:rPr>
              <a:t>Firestore</a:t>
            </a:r>
            <a:r>
              <a:rPr lang="en-US" dirty="0">
                <a:solidFill>
                  <a:srgbClr val="272525"/>
                </a:solidFill>
                <a:latin typeface="Times New Roman" panose="02020603050405020304" pitchFamily="18" charset="0"/>
                <a:ea typeface="Inter" pitchFamily="34" charset="-122"/>
                <a:cs typeface="Times New Roman" panose="02020603050405020304" pitchFamily="18" charset="0"/>
              </a:rPr>
              <a:t> DB stores chat histories, analytics, and logs. Firebase handles authentication, real-time data storage, booking details,</a:t>
            </a:r>
          </a:p>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 and instant synchronization across frontend, backend, and admin dashboard.</a:t>
            </a:r>
            <a:endParaRPr lang="en-US" dirty="0">
              <a:latin typeface="Times New Roman" panose="02020603050405020304" pitchFamily="18" charset="0"/>
              <a:cs typeface="Times New Roman" panose="02020603050405020304" pitchFamily="18" charset="0"/>
            </a:endParaRPr>
          </a:p>
        </p:txBody>
      </p:sp>
      <p:sp>
        <p:nvSpPr>
          <p:cNvPr id="25" name="Shape 19"/>
          <p:cNvSpPr/>
          <p:nvPr/>
        </p:nvSpPr>
        <p:spPr>
          <a:xfrm>
            <a:off x="665709" y="6257687"/>
            <a:ext cx="125016" cy="562570"/>
          </a:xfrm>
          <a:prstGeom prst="roundRect">
            <a:avLst>
              <a:gd name="adj" fmla="val 42012"/>
            </a:avLst>
          </a:prstGeom>
          <a:solidFill>
            <a:srgbClr val="E0D7F4"/>
          </a:solidFill>
          <a:ln w="7620">
            <a:solidFill>
              <a:srgbClr val="C6BDDA"/>
            </a:solidFill>
            <a:prstDash val="solid"/>
          </a:ln>
        </p:spPr>
      </p:sp>
      <p:sp>
        <p:nvSpPr>
          <p:cNvPr id="26" name="Shape 20"/>
          <p:cNvSpPr/>
          <p:nvPr/>
        </p:nvSpPr>
        <p:spPr>
          <a:xfrm>
            <a:off x="540693" y="6175653"/>
            <a:ext cx="375047" cy="375047"/>
          </a:xfrm>
          <a:prstGeom prst="roundRect">
            <a:avLst>
              <a:gd name="adj" fmla="val 121905"/>
            </a:avLst>
          </a:prstGeom>
          <a:solidFill>
            <a:srgbClr val="E0D7F4"/>
          </a:solidFill>
          <a:ln w="7620">
            <a:solidFill>
              <a:srgbClr val="C6BDDA"/>
            </a:solidFill>
            <a:prstDash val="solid"/>
          </a:ln>
        </p:spPr>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4396" y="6269474"/>
            <a:ext cx="187523" cy="187523"/>
          </a:xfrm>
          <a:prstGeom prst="rect">
            <a:avLst/>
          </a:prstGeom>
        </p:spPr>
      </p:pic>
      <p:sp>
        <p:nvSpPr>
          <p:cNvPr id="28" name="Text 21"/>
          <p:cNvSpPr/>
          <p:nvPr/>
        </p:nvSpPr>
        <p:spPr>
          <a:xfrm>
            <a:off x="1040756" y="6195179"/>
            <a:ext cx="1719382"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Payment Integration</a:t>
            </a:r>
            <a:endParaRPr lang="en-US" dirty="0">
              <a:latin typeface="Times New Roman" panose="02020603050405020304" pitchFamily="18" charset="0"/>
              <a:cs typeface="Times New Roman" panose="02020603050405020304" pitchFamily="18" charset="0"/>
            </a:endParaRPr>
          </a:p>
        </p:txBody>
      </p:sp>
      <p:sp>
        <p:nvSpPr>
          <p:cNvPr id="29" name="Text 22"/>
          <p:cNvSpPr/>
          <p:nvPr/>
        </p:nvSpPr>
        <p:spPr>
          <a:xfrm>
            <a:off x="1040756" y="6485096"/>
            <a:ext cx="12754927" cy="200025"/>
          </a:xfrm>
          <a:prstGeom prst="rect">
            <a:avLst/>
          </a:prstGeom>
          <a:noFill/>
          <a:ln/>
        </p:spPr>
        <p:txBody>
          <a:bodyPr wrap="non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Secure online payment gateway calculates pricing, processes transactions, verifies payments, generates digital tickets, and sends </a:t>
            </a:r>
          </a:p>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confirmations to users automatically.</a:t>
            </a:r>
            <a:endParaRPr lang="en-US" dirty="0">
              <a:latin typeface="Times New Roman" panose="02020603050405020304" pitchFamily="18" charset="0"/>
              <a:cs typeface="Times New Roman" panose="02020603050405020304" pitchFamily="18" charset="0"/>
            </a:endParaRPr>
          </a:p>
        </p:txBody>
      </p:sp>
      <p:sp>
        <p:nvSpPr>
          <p:cNvPr id="30" name="Shape 23"/>
          <p:cNvSpPr/>
          <p:nvPr/>
        </p:nvSpPr>
        <p:spPr>
          <a:xfrm>
            <a:off x="645455" y="7132915"/>
            <a:ext cx="125016" cy="562570"/>
          </a:xfrm>
          <a:prstGeom prst="roundRect">
            <a:avLst>
              <a:gd name="adj" fmla="val 42012"/>
            </a:avLst>
          </a:prstGeom>
          <a:solidFill>
            <a:srgbClr val="E0D7F4"/>
          </a:solidFill>
          <a:ln w="7620">
            <a:solidFill>
              <a:srgbClr val="C6BDDA"/>
            </a:solidFill>
            <a:prstDash val="solid"/>
          </a:ln>
        </p:spPr>
      </p:sp>
      <p:sp>
        <p:nvSpPr>
          <p:cNvPr id="31" name="Shape 24"/>
          <p:cNvSpPr/>
          <p:nvPr/>
        </p:nvSpPr>
        <p:spPr>
          <a:xfrm>
            <a:off x="520439" y="7050881"/>
            <a:ext cx="375047" cy="375047"/>
          </a:xfrm>
          <a:prstGeom prst="roundRect">
            <a:avLst>
              <a:gd name="adj" fmla="val 121905"/>
            </a:avLst>
          </a:prstGeom>
          <a:solidFill>
            <a:srgbClr val="E0D7F4"/>
          </a:solidFill>
          <a:ln w="7620">
            <a:solidFill>
              <a:srgbClr val="C6BDDA"/>
            </a:solidFill>
            <a:prstDash val="solid"/>
          </a:ln>
        </p:spPr>
      </p:sp>
      <p:pic>
        <p:nvPicPr>
          <p:cNvPr id="32" name="Image 5" descr="preencoded.png"/>
          <p:cNvPicPr>
            <a:picLocks noChangeAspect="1"/>
          </p:cNvPicPr>
          <p:nvPr/>
        </p:nvPicPr>
        <p:blipFill>
          <a:blip r:embed="rId8"/>
          <a:stretch>
            <a:fillRect/>
          </a:stretch>
        </p:blipFill>
        <p:spPr>
          <a:xfrm>
            <a:off x="614141" y="7144703"/>
            <a:ext cx="187523" cy="187523"/>
          </a:xfrm>
          <a:prstGeom prst="rect">
            <a:avLst/>
          </a:prstGeom>
        </p:spPr>
      </p:pic>
      <p:sp>
        <p:nvSpPr>
          <p:cNvPr id="33" name="Text 25"/>
          <p:cNvSpPr/>
          <p:nvPr/>
        </p:nvSpPr>
        <p:spPr>
          <a:xfrm>
            <a:off x="1020502" y="7070407"/>
            <a:ext cx="1719382" cy="214908"/>
          </a:xfrm>
          <a:prstGeom prst="rect">
            <a:avLst/>
          </a:prstGeom>
          <a:noFill/>
          <a:ln/>
        </p:spPr>
        <p:txBody>
          <a:bodyPr wrap="none" lIns="0" tIns="0" rIns="0" bIns="0" rtlCol="0" anchor="t"/>
          <a:lstStyle/>
          <a:p>
            <a:pPr marL="0" indent="0" algn="l">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IoT Hardware Layer</a:t>
            </a:r>
            <a:endParaRPr lang="en-US" dirty="0">
              <a:latin typeface="Times New Roman" panose="02020603050405020304" pitchFamily="18" charset="0"/>
              <a:cs typeface="Times New Roman" panose="02020603050405020304" pitchFamily="18" charset="0"/>
            </a:endParaRPr>
          </a:p>
        </p:txBody>
      </p:sp>
      <p:sp>
        <p:nvSpPr>
          <p:cNvPr id="34" name="Text 26"/>
          <p:cNvSpPr/>
          <p:nvPr/>
        </p:nvSpPr>
        <p:spPr>
          <a:xfrm>
            <a:off x="1020502" y="7360325"/>
            <a:ext cx="12942451" cy="200025"/>
          </a:xfrm>
          <a:prstGeom prst="rect">
            <a:avLst/>
          </a:prstGeom>
          <a:noFill/>
          <a:ln/>
        </p:spPr>
        <p:txBody>
          <a:bodyPr wrap="none" lIns="0" tIns="0" rIns="0" bIns="0" rtlCol="0" anchor="t"/>
          <a:lstStyle/>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ESP32 connects sensors and actuators to cloud backend. Ultrasonic sensor counts visitors, IR sensor triggers automated responses, </a:t>
            </a:r>
          </a:p>
          <a:p>
            <a:pPr marL="0" indent="0" algn="l">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RFID validates tickets, and servo motor controls entry gates for secure access.</a:t>
            </a:r>
            <a:endParaRPr lang="en-US"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CCE25E9D-5628-46A8-2BA2-D7650C27DAF1}"/>
              </a:ext>
            </a:extLst>
          </p:cNvPr>
          <p:cNvPicPr>
            <a:picLocks noChangeAspect="1"/>
          </p:cNvPicPr>
          <p:nvPr/>
        </p:nvPicPr>
        <p:blipFill>
          <a:blip r:embed="rId9"/>
          <a:stretch>
            <a:fillRect/>
          </a:stretch>
        </p:blipFill>
        <p:spPr>
          <a:xfrm>
            <a:off x="12296775" y="7679349"/>
            <a:ext cx="2333625" cy="42862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6" name="Text 2"/>
          <p:cNvSpPr/>
          <p:nvPr/>
        </p:nvSpPr>
        <p:spPr>
          <a:xfrm>
            <a:off x="5041599" y="355640"/>
            <a:ext cx="4547200" cy="512295"/>
          </a:xfrm>
          <a:prstGeom prst="rect">
            <a:avLst/>
          </a:prstGeom>
          <a:noFill/>
          <a:ln/>
        </p:spPr>
        <p:txBody>
          <a:bodyPr wrap="none" lIns="0" tIns="0" rIns="0" bIns="0" rtlCol="0" anchor="t"/>
          <a:lstStyle/>
          <a:p>
            <a:pPr marL="0" indent="0" algn="l">
              <a:lnSpc>
                <a:spcPts val="1650"/>
              </a:lnSpc>
              <a:buNone/>
            </a:pPr>
            <a:r>
              <a:rPr lang="en-US" sz="4400" b="1" dirty="0">
                <a:solidFill>
                  <a:srgbClr val="002060"/>
                </a:solidFill>
                <a:latin typeface="Times New Roman" panose="02020603050405020304" pitchFamily="18" charset="0"/>
                <a:ea typeface="Petrona Bold" pitchFamily="34" charset="-122"/>
                <a:cs typeface="Times New Roman" panose="02020603050405020304" pitchFamily="18" charset="0"/>
              </a:rPr>
              <a:t>Sequence Diagram</a:t>
            </a:r>
            <a:endParaRPr lang="en-US" sz="4400" dirty="0">
              <a:solidFill>
                <a:srgbClr val="00206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93B8B0B-C355-83C5-E994-150483FC9471}"/>
              </a:ext>
            </a:extLst>
          </p:cNvPr>
          <p:cNvPicPr>
            <a:picLocks noChangeAspect="1"/>
          </p:cNvPicPr>
          <p:nvPr/>
        </p:nvPicPr>
        <p:blipFill>
          <a:blip r:embed="rId3"/>
          <a:stretch>
            <a:fillRect/>
          </a:stretch>
        </p:blipFill>
        <p:spPr>
          <a:xfrm>
            <a:off x="11602514" y="7697936"/>
            <a:ext cx="2894615" cy="531664"/>
          </a:xfrm>
          <a:prstGeom prst="rect">
            <a:avLst/>
          </a:prstGeom>
        </p:spPr>
      </p:pic>
      <p:pic>
        <p:nvPicPr>
          <p:cNvPr id="14" name="Picture 13">
            <a:extLst>
              <a:ext uri="{FF2B5EF4-FFF2-40B4-BE49-F238E27FC236}">
                <a16:creationId xmlns:a16="http://schemas.microsoft.com/office/drawing/2014/main" id="{B55226D1-ECD2-706C-FBAE-DBD7D8281AA9}"/>
              </a:ext>
            </a:extLst>
          </p:cNvPr>
          <p:cNvPicPr>
            <a:picLocks noChangeAspect="1"/>
          </p:cNvPicPr>
          <p:nvPr/>
        </p:nvPicPr>
        <p:blipFill>
          <a:blip r:embed="rId4"/>
          <a:stretch>
            <a:fillRect/>
          </a:stretch>
        </p:blipFill>
        <p:spPr>
          <a:xfrm>
            <a:off x="871369" y="623944"/>
            <a:ext cx="12898419" cy="7522571"/>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643CF6-6232-C4EF-E6B0-EB07EEC02760}"/>
              </a:ext>
            </a:extLst>
          </p:cNvPr>
          <p:cNvSpPr txBox="1"/>
          <p:nvPr/>
        </p:nvSpPr>
        <p:spPr>
          <a:xfrm>
            <a:off x="3657600" y="925371"/>
            <a:ext cx="7315200" cy="400110"/>
          </a:xfrm>
          <a:prstGeom prst="rect">
            <a:avLst/>
          </a:prstGeom>
          <a:noFill/>
        </p:spPr>
        <p:txBody>
          <a:bodyPr wrap="square">
            <a:spAutoFit/>
          </a:bodyPr>
          <a:lstStyle/>
          <a:p>
            <a:pPr marL="0" indent="0" algn="ctr">
              <a:lnSpc>
                <a:spcPts val="1650"/>
              </a:lnSpc>
              <a:buNone/>
            </a:pPr>
            <a:r>
              <a:rPr lang="en-US" sz="4800" b="1" dirty="0">
                <a:solidFill>
                  <a:srgbClr val="002060"/>
                </a:solidFill>
                <a:latin typeface="Times New Roman" panose="02020603050405020304" pitchFamily="18" charset="0"/>
                <a:ea typeface="Petrona Bold" pitchFamily="34" charset="-122"/>
                <a:cs typeface="Times New Roman" panose="02020603050405020304" pitchFamily="18" charset="0"/>
              </a:rPr>
              <a:t>ER</a:t>
            </a:r>
            <a:r>
              <a:rPr lang="en-US" sz="4800" b="1" dirty="0">
                <a:solidFill>
                  <a:srgbClr val="F95F88"/>
                </a:solidFill>
                <a:latin typeface="Times New Roman" panose="02020603050405020304" pitchFamily="18" charset="0"/>
                <a:ea typeface="Petrona Bold" pitchFamily="34" charset="-122"/>
                <a:cs typeface="Times New Roman" panose="02020603050405020304" pitchFamily="18" charset="0"/>
              </a:rPr>
              <a:t> </a:t>
            </a:r>
            <a:r>
              <a:rPr lang="en-US" sz="4800" b="1" dirty="0">
                <a:solidFill>
                  <a:srgbClr val="002060"/>
                </a:solidFill>
                <a:latin typeface="Times New Roman" panose="02020603050405020304" pitchFamily="18" charset="0"/>
                <a:ea typeface="Petrona Bold" pitchFamily="34" charset="-122"/>
                <a:cs typeface="Times New Roman" panose="02020603050405020304" pitchFamily="18" charset="0"/>
              </a:rPr>
              <a:t>Diagram</a:t>
            </a:r>
            <a:endParaRPr lang="en-US" sz="48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12E7092-FB93-CC03-894B-C6430F3596EF}"/>
              </a:ext>
            </a:extLst>
          </p:cNvPr>
          <p:cNvPicPr>
            <a:picLocks noChangeAspect="1"/>
          </p:cNvPicPr>
          <p:nvPr/>
        </p:nvPicPr>
        <p:blipFill>
          <a:blip r:embed="rId2"/>
          <a:stretch>
            <a:fillRect/>
          </a:stretch>
        </p:blipFill>
        <p:spPr>
          <a:xfrm>
            <a:off x="0" y="1820301"/>
            <a:ext cx="14630399" cy="4907375"/>
          </a:xfrm>
          <a:prstGeom prst="rect">
            <a:avLst/>
          </a:prstGeom>
        </p:spPr>
      </p:pic>
      <p:pic>
        <p:nvPicPr>
          <p:cNvPr id="8" name="Picture 7">
            <a:extLst>
              <a:ext uri="{FF2B5EF4-FFF2-40B4-BE49-F238E27FC236}">
                <a16:creationId xmlns:a16="http://schemas.microsoft.com/office/drawing/2014/main" id="{D8F86675-738C-DCC3-B86E-5F8F34272440}"/>
              </a:ext>
            </a:extLst>
          </p:cNvPr>
          <p:cNvPicPr>
            <a:picLocks noChangeAspect="1"/>
          </p:cNvPicPr>
          <p:nvPr/>
        </p:nvPicPr>
        <p:blipFill>
          <a:blip r:embed="rId3"/>
          <a:stretch>
            <a:fillRect/>
          </a:stretch>
        </p:blipFill>
        <p:spPr>
          <a:xfrm>
            <a:off x="12275258" y="7779459"/>
            <a:ext cx="2333625" cy="428625"/>
          </a:xfrm>
          <a:prstGeom prst="rect">
            <a:avLst/>
          </a:prstGeom>
        </p:spPr>
      </p:pic>
    </p:spTree>
    <p:extLst>
      <p:ext uri="{BB962C8B-B14F-4D97-AF65-F5344CB8AC3E}">
        <p14:creationId xmlns:p14="http://schemas.microsoft.com/office/powerpoint/2010/main" val="358227078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BDD56A-0C09-29E4-83D5-B56F35B2C9C2}"/>
              </a:ext>
            </a:extLst>
          </p:cNvPr>
          <p:cNvPicPr>
            <a:picLocks noChangeAspect="1"/>
          </p:cNvPicPr>
          <p:nvPr/>
        </p:nvPicPr>
        <p:blipFill>
          <a:blip r:embed="rId2"/>
          <a:stretch>
            <a:fillRect/>
          </a:stretch>
        </p:blipFill>
        <p:spPr>
          <a:xfrm>
            <a:off x="11801080" y="7638968"/>
            <a:ext cx="2829320" cy="590632"/>
          </a:xfrm>
          <a:prstGeom prst="rect">
            <a:avLst/>
          </a:prstGeom>
        </p:spPr>
      </p:pic>
      <p:sp>
        <p:nvSpPr>
          <p:cNvPr id="4" name="TextBox 3">
            <a:extLst>
              <a:ext uri="{FF2B5EF4-FFF2-40B4-BE49-F238E27FC236}">
                <a16:creationId xmlns:a16="http://schemas.microsoft.com/office/drawing/2014/main" id="{344DE9AC-FC21-96D7-F2E6-9946B73D723D}"/>
              </a:ext>
            </a:extLst>
          </p:cNvPr>
          <p:cNvSpPr txBox="1"/>
          <p:nvPr/>
        </p:nvSpPr>
        <p:spPr>
          <a:xfrm>
            <a:off x="5782235" y="-63923"/>
            <a:ext cx="4184725" cy="646331"/>
          </a:xfrm>
          <a:prstGeom prst="rect">
            <a:avLst/>
          </a:prstGeom>
          <a:noFill/>
        </p:spPr>
        <p:txBody>
          <a:bodyPr wrap="square" rtlCol="0">
            <a:spAutoFit/>
          </a:bodyPr>
          <a:lstStyle/>
          <a:p>
            <a:r>
              <a:rPr lang="en-US" sz="3600" b="1" dirty="0">
                <a:solidFill>
                  <a:srgbClr val="002060"/>
                </a:solidFill>
                <a:latin typeface="Times New Roman" pitchFamily="18" charset="0"/>
                <a:cs typeface="Times New Roman" pitchFamily="18" charset="0"/>
              </a:rPr>
              <a:t>Work Progress</a:t>
            </a:r>
            <a:endParaRPr lang="en-IN" sz="3600" dirty="0">
              <a:solidFill>
                <a:srgbClr val="002060"/>
              </a:solidFill>
            </a:endParaRPr>
          </a:p>
        </p:txBody>
      </p:sp>
      <p:pic>
        <p:nvPicPr>
          <p:cNvPr id="8" name="Picture 7">
            <a:extLst>
              <a:ext uri="{FF2B5EF4-FFF2-40B4-BE49-F238E27FC236}">
                <a16:creationId xmlns:a16="http://schemas.microsoft.com/office/drawing/2014/main" id="{44E60045-0DF6-1607-761A-DEA844DF048D}"/>
              </a:ext>
            </a:extLst>
          </p:cNvPr>
          <p:cNvPicPr>
            <a:picLocks noChangeAspect="1"/>
          </p:cNvPicPr>
          <p:nvPr/>
        </p:nvPicPr>
        <p:blipFill>
          <a:blip r:embed="rId3"/>
          <a:srcRect t="9554"/>
          <a:stretch>
            <a:fillRect/>
          </a:stretch>
        </p:blipFill>
        <p:spPr>
          <a:xfrm>
            <a:off x="5347" y="3775932"/>
            <a:ext cx="14630400" cy="4582758"/>
          </a:xfrm>
          <a:prstGeom prst="rect">
            <a:avLst/>
          </a:prstGeom>
        </p:spPr>
      </p:pic>
      <p:pic>
        <p:nvPicPr>
          <p:cNvPr id="6" name="Picture 5">
            <a:extLst>
              <a:ext uri="{FF2B5EF4-FFF2-40B4-BE49-F238E27FC236}">
                <a16:creationId xmlns:a16="http://schemas.microsoft.com/office/drawing/2014/main" id="{EC562A58-A348-B886-9657-21CA74FC3A04}"/>
              </a:ext>
            </a:extLst>
          </p:cNvPr>
          <p:cNvPicPr>
            <a:picLocks noChangeAspect="1"/>
          </p:cNvPicPr>
          <p:nvPr/>
        </p:nvPicPr>
        <p:blipFill>
          <a:blip r:embed="rId4"/>
          <a:srcRect b="18632"/>
          <a:stretch>
            <a:fillRect/>
          </a:stretch>
        </p:blipFill>
        <p:spPr>
          <a:xfrm>
            <a:off x="-1" y="466297"/>
            <a:ext cx="14630400" cy="3640279"/>
          </a:xfrm>
          <a:prstGeom prst="rect">
            <a:avLst/>
          </a:prstGeom>
        </p:spPr>
      </p:pic>
    </p:spTree>
    <p:extLst>
      <p:ext uri="{BB962C8B-B14F-4D97-AF65-F5344CB8AC3E}">
        <p14:creationId xmlns:p14="http://schemas.microsoft.com/office/powerpoint/2010/main" val="24037207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EA03C9-C1DD-0ADC-77CB-7670AB17188E}"/>
              </a:ext>
            </a:extLst>
          </p:cNvPr>
          <p:cNvPicPr>
            <a:picLocks noChangeAspect="1"/>
          </p:cNvPicPr>
          <p:nvPr/>
        </p:nvPicPr>
        <p:blipFill>
          <a:blip r:embed="rId2"/>
          <a:stretch>
            <a:fillRect/>
          </a:stretch>
        </p:blipFill>
        <p:spPr>
          <a:xfrm>
            <a:off x="0" y="5526"/>
            <a:ext cx="14630400" cy="8218548"/>
          </a:xfrm>
          <a:prstGeom prst="rect">
            <a:avLst/>
          </a:prstGeom>
        </p:spPr>
      </p:pic>
    </p:spTree>
    <p:extLst>
      <p:ext uri="{BB962C8B-B14F-4D97-AF65-F5344CB8AC3E}">
        <p14:creationId xmlns:p14="http://schemas.microsoft.com/office/powerpoint/2010/main" val="276804891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970478-D3CA-591C-EC05-7149EC434E24}"/>
              </a:ext>
            </a:extLst>
          </p:cNvPr>
          <p:cNvPicPr>
            <a:picLocks noChangeAspect="1"/>
          </p:cNvPicPr>
          <p:nvPr/>
        </p:nvPicPr>
        <p:blipFill>
          <a:blip r:embed="rId2"/>
          <a:stretch>
            <a:fillRect/>
          </a:stretch>
        </p:blipFill>
        <p:spPr>
          <a:xfrm>
            <a:off x="0" y="0"/>
            <a:ext cx="14630400" cy="5921462"/>
          </a:xfrm>
          <a:prstGeom prst="rect">
            <a:avLst/>
          </a:prstGeom>
        </p:spPr>
      </p:pic>
      <p:pic>
        <p:nvPicPr>
          <p:cNvPr id="3" name="Picture 2">
            <a:extLst>
              <a:ext uri="{FF2B5EF4-FFF2-40B4-BE49-F238E27FC236}">
                <a16:creationId xmlns:a16="http://schemas.microsoft.com/office/drawing/2014/main" id="{0A089110-A695-A3D3-433D-1EA442809679}"/>
              </a:ext>
            </a:extLst>
          </p:cNvPr>
          <p:cNvPicPr>
            <a:picLocks noChangeAspect="1"/>
          </p:cNvPicPr>
          <p:nvPr/>
        </p:nvPicPr>
        <p:blipFill>
          <a:blip r:embed="rId3"/>
          <a:srcRect t="23155"/>
          <a:stretch>
            <a:fillRect/>
          </a:stretch>
        </p:blipFill>
        <p:spPr>
          <a:xfrm>
            <a:off x="0" y="3184264"/>
            <a:ext cx="14630400" cy="5045336"/>
          </a:xfrm>
          <a:prstGeom prst="rect">
            <a:avLst/>
          </a:prstGeom>
        </p:spPr>
      </p:pic>
    </p:spTree>
    <p:extLst>
      <p:ext uri="{BB962C8B-B14F-4D97-AF65-F5344CB8AC3E}">
        <p14:creationId xmlns:p14="http://schemas.microsoft.com/office/powerpoint/2010/main" val="386484992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15945" y="352666"/>
            <a:ext cx="3798510" cy="647164"/>
          </a:xfrm>
          <a:prstGeom prst="rect">
            <a:avLst/>
          </a:prstGeom>
          <a:noFill/>
          <a:ln/>
        </p:spPr>
        <p:txBody>
          <a:bodyPr wrap="none" lIns="0" tIns="0" rIns="0" bIns="0" rtlCol="0" anchor="t"/>
          <a:lstStyle/>
          <a:p>
            <a:pPr marL="0" indent="0" algn="l">
              <a:lnSpc>
                <a:spcPts val="3350"/>
              </a:lnSpc>
              <a:buNone/>
            </a:pPr>
            <a:r>
              <a:rPr lang="en-US" sz="3600" b="1" dirty="0">
                <a:solidFill>
                  <a:srgbClr val="002060"/>
                </a:solidFill>
                <a:latin typeface="Times New Roman" panose="02020603050405020304" pitchFamily="18" charset="0"/>
                <a:ea typeface="Petrona Bold" pitchFamily="34" charset="-122"/>
                <a:cs typeface="Times New Roman" panose="02020603050405020304" pitchFamily="18" charset="0"/>
              </a:rPr>
              <a:t>Future Work Plan</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4" name="Shape 2"/>
          <p:cNvSpPr/>
          <p:nvPr/>
        </p:nvSpPr>
        <p:spPr>
          <a:xfrm>
            <a:off x="499705" y="1394579"/>
            <a:ext cx="6663095" cy="15240"/>
          </a:xfrm>
          <a:prstGeom prst="rect">
            <a:avLst/>
          </a:prstGeom>
          <a:solidFill>
            <a:srgbClr val="6237C8"/>
          </a:solidFill>
          <a:ln/>
        </p:spPr>
      </p:sp>
      <p:sp>
        <p:nvSpPr>
          <p:cNvPr id="5" name="Text 3"/>
          <p:cNvSpPr/>
          <p:nvPr/>
        </p:nvSpPr>
        <p:spPr>
          <a:xfrm>
            <a:off x="499705" y="1487448"/>
            <a:ext cx="2690812"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IoT Integration &amp; Implementation</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499705" y="1827014"/>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Establish functional, interconnected system connecting physical components (sensors/actuators) to cloud for real-time access control, visitor monitoring, and data collection.</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499705" y="3265941"/>
            <a:ext cx="6663095" cy="15240"/>
          </a:xfrm>
          <a:prstGeom prst="rect">
            <a:avLst/>
          </a:prstGeom>
          <a:solidFill>
            <a:srgbClr val="6237C8"/>
          </a:solidFill>
          <a:ln/>
        </p:spPr>
      </p:sp>
      <p:sp>
        <p:nvSpPr>
          <p:cNvPr id="9" name="Text 7"/>
          <p:cNvSpPr/>
          <p:nvPr/>
        </p:nvSpPr>
        <p:spPr>
          <a:xfrm>
            <a:off x="499705" y="3358810"/>
            <a:ext cx="2809875"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Enhanced Multilingual Capabilities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499705" y="3698376"/>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Add more regional and international languages. Integrate voice-based interaction using speech-to-text and text-to-speech technologies.</a:t>
            </a:r>
            <a:endParaRPr lang="en-US" sz="2000" dirty="0">
              <a:latin typeface="Times New Roman" panose="02020603050405020304" pitchFamily="18" charset="0"/>
              <a:cs typeface="Times New Roman" panose="02020603050405020304" pitchFamily="18" charset="0"/>
            </a:endParaRPr>
          </a:p>
        </p:txBody>
      </p:sp>
      <p:sp>
        <p:nvSpPr>
          <p:cNvPr id="12" name="Shape 10"/>
          <p:cNvSpPr/>
          <p:nvPr/>
        </p:nvSpPr>
        <p:spPr>
          <a:xfrm>
            <a:off x="499705" y="4663967"/>
            <a:ext cx="6663095" cy="15240"/>
          </a:xfrm>
          <a:prstGeom prst="rect">
            <a:avLst/>
          </a:prstGeom>
          <a:solidFill>
            <a:srgbClr val="6237C8"/>
          </a:solidFill>
          <a:ln/>
        </p:spPr>
      </p:sp>
      <p:sp>
        <p:nvSpPr>
          <p:cNvPr id="13" name="Text 11"/>
          <p:cNvSpPr/>
          <p:nvPr/>
        </p:nvSpPr>
        <p:spPr>
          <a:xfrm>
            <a:off x="499705" y="4756835"/>
            <a:ext cx="2476857"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Expanded Omnichannel Access</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499705" y="5096402"/>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Extend to popular messaging and social media platforms to increase user engagement and accessibility across multiple channels.</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499705" y="6363206"/>
            <a:ext cx="6663095" cy="15240"/>
          </a:xfrm>
          <a:prstGeom prst="rect">
            <a:avLst/>
          </a:prstGeom>
          <a:solidFill>
            <a:srgbClr val="6237C8"/>
          </a:solidFill>
          <a:ln/>
        </p:spPr>
      </p:sp>
      <p:sp>
        <p:nvSpPr>
          <p:cNvPr id="17" name="Text 15"/>
          <p:cNvSpPr/>
          <p:nvPr/>
        </p:nvSpPr>
        <p:spPr>
          <a:xfrm>
            <a:off x="499705" y="6456074"/>
            <a:ext cx="2045256"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Advanced Personalization</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499705" y="6795641"/>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Implement machine learning models for predictive recommendations and customized tour paths based on visitor preferences and behavior patterns.</a:t>
            </a:r>
            <a:endParaRPr lang="en-US" sz="2000" dirty="0">
              <a:latin typeface="Times New Roman" panose="02020603050405020304" pitchFamily="18" charset="0"/>
              <a:cs typeface="Times New Roman" panose="02020603050405020304" pitchFamily="18" charset="0"/>
            </a:endParaRPr>
          </a:p>
        </p:txBody>
      </p:sp>
      <p:sp>
        <p:nvSpPr>
          <p:cNvPr id="20" name="Shape 18"/>
          <p:cNvSpPr/>
          <p:nvPr/>
        </p:nvSpPr>
        <p:spPr>
          <a:xfrm>
            <a:off x="7475220" y="1394579"/>
            <a:ext cx="6663095" cy="15240"/>
          </a:xfrm>
          <a:prstGeom prst="rect">
            <a:avLst/>
          </a:prstGeom>
          <a:solidFill>
            <a:srgbClr val="6237C8"/>
          </a:solidFill>
          <a:ln/>
        </p:spPr>
      </p:sp>
      <p:sp>
        <p:nvSpPr>
          <p:cNvPr id="21" name="Text 19"/>
          <p:cNvSpPr/>
          <p:nvPr/>
        </p:nvSpPr>
        <p:spPr>
          <a:xfrm>
            <a:off x="7475220" y="1487448"/>
            <a:ext cx="2411611"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Predictive Crowd Management</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7475220" y="1827014"/>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Use predictive analytics to forecast visitor flow and dynamically manage entry limits and visitor routing for optimal crowd distribution.</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7475220" y="3069012"/>
            <a:ext cx="124897" cy="156091"/>
          </a:xfrm>
          <a:prstGeom prst="rect">
            <a:avLst/>
          </a:prstGeom>
          <a:noFill/>
          <a:ln/>
        </p:spPr>
        <p:txBody>
          <a:bodyPr wrap="none" lIns="0" tIns="0" rIns="0" bIns="0" rtlCol="0" anchor="t"/>
          <a:lstStyle/>
          <a:p>
            <a:pPr marL="0" indent="0" algn="l">
              <a:buNone/>
            </a:pPr>
            <a:r>
              <a:rPr lang="en-US" sz="1200" dirty="0">
                <a:solidFill>
                  <a:srgbClr val="272525"/>
                </a:solidFill>
                <a:latin typeface="Times New Roman" panose="02020603050405020304" pitchFamily="18" charset="0"/>
                <a:ea typeface="Petrona Light" pitchFamily="34" charset="-122"/>
                <a:cs typeface="Times New Roman" panose="02020603050405020304" pitchFamily="18" charset="0"/>
              </a:rPr>
              <a:t>0</a:t>
            </a:r>
            <a:endParaRPr lang="en-US" sz="1200" dirty="0">
              <a:latin typeface="Times New Roman" panose="02020603050405020304" pitchFamily="18" charset="0"/>
              <a:cs typeface="Times New Roman" panose="02020603050405020304" pitchFamily="18" charset="0"/>
            </a:endParaRPr>
          </a:p>
        </p:txBody>
      </p:sp>
      <p:sp>
        <p:nvSpPr>
          <p:cNvPr id="24" name="Shape 22"/>
          <p:cNvSpPr/>
          <p:nvPr/>
        </p:nvSpPr>
        <p:spPr>
          <a:xfrm>
            <a:off x="7475220" y="3265941"/>
            <a:ext cx="6663095" cy="15240"/>
          </a:xfrm>
          <a:prstGeom prst="rect">
            <a:avLst/>
          </a:prstGeom>
          <a:solidFill>
            <a:srgbClr val="6237C8"/>
          </a:solidFill>
          <a:ln/>
        </p:spPr>
      </p:sp>
      <p:sp>
        <p:nvSpPr>
          <p:cNvPr id="25" name="Text 23"/>
          <p:cNvSpPr/>
          <p:nvPr/>
        </p:nvSpPr>
        <p:spPr>
          <a:xfrm>
            <a:off x="7475220" y="3358810"/>
            <a:ext cx="2426375"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Augmented Reality Integration</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7475220" y="3698376"/>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Upgrade virtual guide functionality with AR and immersive 3D experiences for richer and more interactive museum tours.</a:t>
            </a:r>
            <a:endParaRPr lang="en-US" sz="2000" dirty="0">
              <a:latin typeface="Times New Roman" panose="02020603050405020304" pitchFamily="18" charset="0"/>
              <a:cs typeface="Times New Roman" panose="02020603050405020304" pitchFamily="18" charset="0"/>
            </a:endParaRPr>
          </a:p>
        </p:txBody>
      </p:sp>
      <p:sp>
        <p:nvSpPr>
          <p:cNvPr id="28" name="Shape 26"/>
          <p:cNvSpPr/>
          <p:nvPr/>
        </p:nvSpPr>
        <p:spPr>
          <a:xfrm>
            <a:off x="7475220" y="4663967"/>
            <a:ext cx="6663095" cy="15240"/>
          </a:xfrm>
          <a:prstGeom prst="rect">
            <a:avLst/>
          </a:prstGeom>
          <a:solidFill>
            <a:srgbClr val="6237C8"/>
          </a:solidFill>
          <a:ln/>
        </p:spPr>
      </p:sp>
      <p:sp>
        <p:nvSpPr>
          <p:cNvPr id="29" name="Text 27"/>
          <p:cNvSpPr/>
          <p:nvPr/>
        </p:nvSpPr>
        <p:spPr>
          <a:xfrm>
            <a:off x="7475220" y="4756835"/>
            <a:ext cx="2549485"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Enhanced Accessibility Features</a:t>
            </a:r>
            <a:endParaRPr lang="en-US" sz="2000" dirty="0">
              <a:latin typeface="Times New Roman" panose="02020603050405020304" pitchFamily="18" charset="0"/>
              <a:cs typeface="Times New Roman" panose="02020603050405020304" pitchFamily="18" charset="0"/>
            </a:endParaRPr>
          </a:p>
        </p:txBody>
      </p:sp>
      <p:sp>
        <p:nvSpPr>
          <p:cNvPr id="30" name="Text 28"/>
          <p:cNvSpPr/>
          <p:nvPr/>
        </p:nvSpPr>
        <p:spPr>
          <a:xfrm>
            <a:off x="7475220" y="5096402"/>
            <a:ext cx="6663095" cy="399574"/>
          </a:xfrm>
          <a:prstGeom prst="rect">
            <a:avLst/>
          </a:prstGeom>
          <a:noFill/>
          <a:ln/>
        </p:spPr>
        <p:txBody>
          <a:bodyPr wrap="square" lIns="0" tIns="0" rIns="0" bIns="0" rtlCol="0" anchor="t"/>
          <a:lstStyle/>
          <a:p>
            <a:pPr marL="0" indent="0" algn="l">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Support additional assistive technologies to cater to users with diverse needs and ensure inclusive access for all visitors.</a:t>
            </a:r>
            <a:endParaRPr lang="en-US" sz="2000" dirty="0">
              <a:latin typeface="Times New Roman" panose="02020603050405020304" pitchFamily="18" charset="0"/>
              <a:cs typeface="Times New Roman" panose="02020603050405020304" pitchFamily="18" charset="0"/>
            </a:endParaRPr>
          </a:p>
        </p:txBody>
      </p:sp>
      <p:sp>
        <p:nvSpPr>
          <p:cNvPr id="32" name="Shape 30"/>
          <p:cNvSpPr/>
          <p:nvPr/>
        </p:nvSpPr>
        <p:spPr>
          <a:xfrm>
            <a:off x="7475220" y="6363206"/>
            <a:ext cx="6663095" cy="15240"/>
          </a:xfrm>
          <a:prstGeom prst="rect">
            <a:avLst/>
          </a:prstGeom>
          <a:solidFill>
            <a:srgbClr val="6237C8"/>
          </a:solidFill>
          <a:ln/>
        </p:spPr>
      </p:sp>
      <p:sp>
        <p:nvSpPr>
          <p:cNvPr id="33" name="Text 31"/>
          <p:cNvSpPr/>
          <p:nvPr/>
        </p:nvSpPr>
        <p:spPr>
          <a:xfrm>
            <a:off x="7475220" y="6456074"/>
            <a:ext cx="1768316" cy="214670"/>
          </a:xfrm>
          <a:prstGeom prst="rect">
            <a:avLst/>
          </a:prstGeom>
          <a:noFill/>
          <a:ln/>
        </p:spPr>
        <p:txBody>
          <a:bodyPr wrap="none" lIns="0" tIns="0" rIns="0" bIns="0" rtlCol="0" anchor="t"/>
          <a:lstStyle/>
          <a:p>
            <a:pPr marL="0" indent="0" algn="l">
              <a:buNone/>
            </a:pPr>
            <a:r>
              <a:rPr lang="en-US" sz="2000" b="1" dirty="0">
                <a:solidFill>
                  <a:srgbClr val="272525"/>
                </a:solidFill>
                <a:latin typeface="Times New Roman" panose="02020603050405020304" pitchFamily="18" charset="0"/>
                <a:ea typeface="Petrona Bold" pitchFamily="34" charset="-122"/>
                <a:cs typeface="Times New Roman" panose="02020603050405020304" pitchFamily="18" charset="0"/>
              </a:rPr>
              <a:t>Android App Development</a:t>
            </a:r>
            <a:endParaRPr lang="en-US" sz="2000" dirty="0">
              <a:latin typeface="Times New Roman" panose="02020603050405020304" pitchFamily="18" charset="0"/>
              <a:cs typeface="Times New Roman" panose="02020603050405020304" pitchFamily="18" charset="0"/>
            </a:endParaRPr>
          </a:p>
        </p:txBody>
      </p:sp>
      <p:sp>
        <p:nvSpPr>
          <p:cNvPr id="34" name="Text 32"/>
          <p:cNvSpPr/>
          <p:nvPr/>
        </p:nvSpPr>
        <p:spPr>
          <a:xfrm>
            <a:off x="7475220" y="6795641"/>
            <a:ext cx="6663095" cy="399574"/>
          </a:xfrm>
          <a:prstGeom prst="rect">
            <a:avLst/>
          </a:prstGeom>
          <a:noFill/>
          <a:ln/>
        </p:spPr>
        <p:txBody>
          <a:bodyPr wrap="square" lIns="0" tIns="0" rIns="0" bIns="0" rtlCol="0" anchor="t"/>
          <a:lstStyle/>
          <a:p>
            <a:pPr algn="just"/>
            <a:r>
              <a:rPr lang="en-US" dirty="0">
                <a:latin typeface="Times New Roman" panose="02020603050405020304" pitchFamily="18" charset="0"/>
                <a:cs typeface="Times New Roman" panose="02020603050405020304" pitchFamily="18" charset="0"/>
              </a:rPr>
              <a:t>Future work involves building an Android app with secure login, real-time booking, QR entry, offline access, and smart features like AI chatbot, multilingual support, digital payments, and notifications.</a:t>
            </a:r>
          </a:p>
        </p:txBody>
      </p:sp>
      <p:pic>
        <p:nvPicPr>
          <p:cNvPr id="47" name="Picture 46">
            <a:extLst>
              <a:ext uri="{FF2B5EF4-FFF2-40B4-BE49-F238E27FC236}">
                <a16:creationId xmlns:a16="http://schemas.microsoft.com/office/drawing/2014/main" id="{1E1C2032-814D-141F-8604-5B960D980448}"/>
              </a:ext>
            </a:extLst>
          </p:cNvPr>
          <p:cNvPicPr>
            <a:picLocks noChangeAspect="1"/>
          </p:cNvPicPr>
          <p:nvPr/>
        </p:nvPicPr>
        <p:blipFill>
          <a:blip r:embed="rId3"/>
          <a:stretch>
            <a:fillRect/>
          </a:stretch>
        </p:blipFill>
        <p:spPr>
          <a:xfrm>
            <a:off x="12183427" y="7697759"/>
            <a:ext cx="2333625" cy="428625"/>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DFAF7">
              <a:alpha val="90000"/>
            </a:srgbClr>
          </a:solidFill>
          <a:ln/>
        </p:spPr>
        <p:txBody>
          <a:bodyPr/>
          <a:lstStyle/>
          <a:p>
            <a:endParaRPr lang="en-IN" dirty="0"/>
          </a:p>
        </p:txBody>
      </p:sp>
      <p:sp>
        <p:nvSpPr>
          <p:cNvPr id="4" name="Text 1"/>
          <p:cNvSpPr/>
          <p:nvPr/>
        </p:nvSpPr>
        <p:spPr>
          <a:xfrm>
            <a:off x="6008662" y="311170"/>
            <a:ext cx="3872508" cy="484108"/>
          </a:xfrm>
          <a:prstGeom prst="rect">
            <a:avLst/>
          </a:prstGeom>
          <a:noFill/>
          <a:ln/>
        </p:spPr>
        <p:txBody>
          <a:bodyPr wrap="none" lIns="0" tIns="0" rIns="0" bIns="0" rtlCol="0" anchor="t"/>
          <a:lstStyle/>
          <a:p>
            <a:pPr marL="0" indent="0" algn="l">
              <a:lnSpc>
                <a:spcPts val="3800"/>
              </a:lnSpc>
              <a:buNone/>
            </a:pPr>
            <a:r>
              <a:rPr lang="en-US" sz="4000" b="1" dirty="0">
                <a:solidFill>
                  <a:schemeClr val="accent1">
                    <a:lumMod val="75000"/>
                  </a:schemeClr>
                </a:solidFill>
                <a:latin typeface="Times New Roman" panose="02020603050405020304" pitchFamily="18" charset="0"/>
                <a:ea typeface="Petrona Bold" pitchFamily="34" charset="-122"/>
                <a:cs typeface="Times New Roman" panose="02020603050405020304" pitchFamily="18" charset="0"/>
              </a:rPr>
              <a:t>References</a:t>
            </a:r>
            <a:endParaRPr lang="en-US" sz="4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Text 2"/>
          <p:cNvSpPr/>
          <p:nvPr/>
        </p:nvSpPr>
        <p:spPr>
          <a:xfrm>
            <a:off x="563166" y="1015608"/>
            <a:ext cx="13504069" cy="225266"/>
          </a:xfrm>
          <a:prstGeom prst="rect">
            <a:avLst/>
          </a:prstGeom>
          <a:noFill/>
          <a:ln/>
        </p:spPr>
        <p:txBody>
          <a:bodyPr wrap="none" lIns="0" tIns="0" rIns="0" bIns="0" rtlCol="0" anchor="t"/>
          <a:lstStyle/>
          <a:p>
            <a:pPr marL="0" indent="0" algn="l">
              <a:lnSpc>
                <a:spcPts val="17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Key research and publications underpinning the design and functionality of the museum ticketing system:</a:t>
            </a:r>
            <a:endParaRPr lang="en-US" sz="20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1961713" y="1539343"/>
            <a:ext cx="4741361" cy="873239"/>
          </a:xfrm>
          <a:prstGeom prst="rect">
            <a:avLst/>
          </a:prstGeom>
        </p:spPr>
      </p:pic>
      <p:sp>
        <p:nvSpPr>
          <p:cNvPr id="7" name="Text 3"/>
          <p:cNvSpPr/>
          <p:nvPr/>
        </p:nvSpPr>
        <p:spPr>
          <a:xfrm>
            <a:off x="1961713" y="2652358"/>
            <a:ext cx="4741361" cy="483870"/>
          </a:xfrm>
          <a:prstGeom prst="rect">
            <a:avLst/>
          </a:prstGeom>
          <a:noFill/>
          <a:ln/>
        </p:spPr>
        <p:txBody>
          <a:bodyPr wrap="square" lIns="0" tIns="0" rIns="0" bIns="0" rtlCol="0" anchor="t"/>
          <a:lstStyle/>
          <a:p>
            <a:pPr marL="0" indent="0" algn="l">
              <a:lnSpc>
                <a:spcPts val="190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Digital Ticketing &amp; QR-based E-Tickets</a:t>
            </a:r>
            <a:endParaRPr lang="en-US" dirty="0">
              <a:latin typeface="Times New Roman" panose="02020603050405020304" pitchFamily="18" charset="0"/>
              <a:cs typeface="Times New Roman" panose="02020603050405020304" pitchFamily="18" charset="0"/>
            </a:endParaRPr>
          </a:p>
        </p:txBody>
      </p:sp>
      <p:sp>
        <p:nvSpPr>
          <p:cNvPr id="8" name="Text 4"/>
          <p:cNvSpPr/>
          <p:nvPr/>
        </p:nvSpPr>
        <p:spPr>
          <a:xfrm>
            <a:off x="1961713" y="3220643"/>
            <a:ext cx="4741361"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Zhang et al., 2021; Mobile booking platforms for museums and public venues.</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1961713" y="3806413"/>
            <a:ext cx="4741361"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Li et al., 2020; Advances in QR-code based e-ticketing systems.</a:t>
            </a:r>
            <a:endParaRPr lang="en-US" sz="16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7944916" y="1391483"/>
            <a:ext cx="4741361" cy="879135"/>
          </a:xfrm>
          <a:prstGeom prst="rect">
            <a:avLst/>
          </a:prstGeom>
        </p:spPr>
      </p:pic>
      <p:sp>
        <p:nvSpPr>
          <p:cNvPr id="11" name="Text 6"/>
          <p:cNvSpPr/>
          <p:nvPr/>
        </p:nvSpPr>
        <p:spPr>
          <a:xfrm>
            <a:off x="7944915" y="2594521"/>
            <a:ext cx="5175357" cy="483870"/>
          </a:xfrm>
          <a:prstGeom prst="rect">
            <a:avLst/>
          </a:prstGeom>
          <a:noFill/>
          <a:ln/>
        </p:spPr>
        <p:txBody>
          <a:bodyPr wrap="square" lIns="0" tIns="0" rIns="0" bIns="0" rtlCol="0" anchor="t"/>
          <a:lstStyle/>
          <a:p>
            <a:pPr marL="0" indent="0" algn="l">
              <a:lnSpc>
                <a:spcPts val="190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Predictive Analytics for Visitor Management</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7944916" y="3023641"/>
            <a:ext cx="5175357"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Russo &amp; Richards, 2022; Forecasting visitor flow and optimizing staffing.</a:t>
            </a:r>
            <a:endParaRPr lang="en-US" sz="1600" dirty="0">
              <a:latin typeface="Times New Roman" panose="02020603050405020304" pitchFamily="18" charset="0"/>
              <a:cs typeface="Times New Roman" panose="02020603050405020304" pitchFamily="18" charset="0"/>
            </a:endParaRPr>
          </a:p>
        </p:txBody>
      </p:sp>
      <p:sp>
        <p:nvSpPr>
          <p:cNvPr id="13" name="Text 8"/>
          <p:cNvSpPr/>
          <p:nvPr/>
        </p:nvSpPr>
        <p:spPr>
          <a:xfrm>
            <a:off x="7944916" y="3523347"/>
            <a:ext cx="5175357" cy="675799"/>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Fernández-Alcantud et al., 2021; Crowd management strategies in cultural institutions.</a:t>
            </a:r>
            <a:endParaRPr lang="en-US" sz="1600" dirty="0">
              <a:latin typeface="Times New Roman" panose="02020603050405020304" pitchFamily="18" charset="0"/>
              <a:cs typeface="Times New Roman" panose="02020603050405020304" pitchFamily="18" charset="0"/>
            </a:endParaRPr>
          </a:p>
        </p:txBody>
      </p:sp>
      <p:sp>
        <p:nvSpPr>
          <p:cNvPr id="14" name="Text 9"/>
          <p:cNvSpPr/>
          <p:nvPr/>
        </p:nvSpPr>
        <p:spPr>
          <a:xfrm>
            <a:off x="7944916" y="4248318"/>
            <a:ext cx="5175357"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Wang &amp; Xu, 2020; Data-driven approaches to enhance visitor experience.</a:t>
            </a:r>
            <a:endParaRPr lang="en-US" sz="1600" dirty="0">
              <a:latin typeface="Times New Roman" panose="02020603050405020304" pitchFamily="18" charset="0"/>
              <a:cs typeface="Times New Roman" panose="02020603050405020304" pitchFamily="18" charset="0"/>
            </a:endParaRPr>
          </a:p>
        </p:txBody>
      </p:sp>
      <p:sp>
        <p:nvSpPr>
          <p:cNvPr id="17" name="Text 11"/>
          <p:cNvSpPr/>
          <p:nvPr/>
        </p:nvSpPr>
        <p:spPr>
          <a:xfrm>
            <a:off x="1827102" y="6418955"/>
            <a:ext cx="5151316" cy="187279"/>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Pérez-Sanagustín et al., 2020; Informational and navigational roles of chatbots.</a:t>
            </a:r>
            <a:endParaRPr lang="en-US" sz="1600" dirty="0">
              <a:latin typeface="Times New Roman" panose="02020603050405020304" pitchFamily="18" charset="0"/>
              <a:cs typeface="Times New Roman" panose="02020603050405020304" pitchFamily="18" charset="0"/>
            </a:endParaRPr>
          </a:p>
        </p:txBody>
      </p:sp>
      <p:sp>
        <p:nvSpPr>
          <p:cNvPr id="18" name="Text 12"/>
          <p:cNvSpPr/>
          <p:nvPr/>
        </p:nvSpPr>
        <p:spPr>
          <a:xfrm>
            <a:off x="1827102" y="6965556"/>
            <a:ext cx="5151316" cy="183694"/>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Damiano et al., 2019; Educational applications of AI conversational agents.</a:t>
            </a:r>
            <a:endParaRPr lang="en-US" sz="1600" dirty="0">
              <a:latin typeface="Times New Roman" panose="02020603050405020304" pitchFamily="18" charset="0"/>
              <a:cs typeface="Times New Roman" panose="02020603050405020304" pitchFamily="18" charset="0"/>
            </a:endParaRPr>
          </a:p>
        </p:txBody>
      </p:sp>
      <p:sp>
        <p:nvSpPr>
          <p:cNvPr id="19" name="Text 13"/>
          <p:cNvSpPr/>
          <p:nvPr/>
        </p:nvSpPr>
        <p:spPr>
          <a:xfrm>
            <a:off x="1827102" y="7465260"/>
            <a:ext cx="5151316"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Patel et al., 2022; Integrating chatbots with ticketing systems for seamless booking.</a:t>
            </a:r>
            <a:endParaRPr lang="en-US" sz="1600" dirty="0">
              <a:latin typeface="Times New Roman" panose="02020603050405020304" pitchFamily="18" charset="0"/>
              <a:cs typeface="Times New Roman" panose="02020603050405020304" pitchFamily="18" charset="0"/>
            </a:endParaRPr>
          </a:p>
        </p:txBody>
      </p:sp>
      <p:pic>
        <p:nvPicPr>
          <p:cNvPr id="30" name="Image 3" descr="preencoded.png">
            <a:extLst>
              <a:ext uri="{FF2B5EF4-FFF2-40B4-BE49-F238E27FC236}">
                <a16:creationId xmlns:a16="http://schemas.microsoft.com/office/drawing/2014/main" id="{02C1EC72-93B1-C30D-6AC2-63C1D693B1FB}"/>
              </a:ext>
            </a:extLst>
          </p:cNvPr>
          <p:cNvPicPr>
            <a:picLocks noChangeAspect="1"/>
          </p:cNvPicPr>
          <p:nvPr/>
        </p:nvPicPr>
        <p:blipFill>
          <a:blip r:embed="rId6"/>
          <a:stretch>
            <a:fillRect/>
          </a:stretch>
        </p:blipFill>
        <p:spPr>
          <a:xfrm>
            <a:off x="1961712" y="4839877"/>
            <a:ext cx="4741361" cy="882786"/>
          </a:xfrm>
          <a:prstGeom prst="rect">
            <a:avLst/>
          </a:prstGeom>
        </p:spPr>
      </p:pic>
      <p:sp>
        <p:nvSpPr>
          <p:cNvPr id="31" name="Text 10">
            <a:extLst>
              <a:ext uri="{FF2B5EF4-FFF2-40B4-BE49-F238E27FC236}">
                <a16:creationId xmlns:a16="http://schemas.microsoft.com/office/drawing/2014/main" id="{6A4CA1C9-C66C-077A-0D1A-539A012256E7}"/>
              </a:ext>
            </a:extLst>
          </p:cNvPr>
          <p:cNvSpPr/>
          <p:nvPr/>
        </p:nvSpPr>
        <p:spPr>
          <a:xfrm>
            <a:off x="1805589" y="6001832"/>
            <a:ext cx="2465299" cy="98643"/>
          </a:xfrm>
          <a:prstGeom prst="rect">
            <a:avLst/>
          </a:prstGeom>
          <a:noFill/>
          <a:ln/>
        </p:spPr>
        <p:txBody>
          <a:bodyPr wrap="none" lIns="0" tIns="0" rIns="0" bIns="0" rtlCol="0" anchor="t"/>
          <a:lstStyle/>
          <a:p>
            <a:pPr marL="0" indent="0" algn="l">
              <a:lnSpc>
                <a:spcPts val="190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Chatbots in Museums</a:t>
            </a:r>
            <a:endParaRPr lang="en-US" dirty="0">
              <a:latin typeface="Times New Roman" panose="02020603050405020304" pitchFamily="18" charset="0"/>
              <a:cs typeface="Times New Roman" panose="02020603050405020304" pitchFamily="18" charset="0"/>
            </a:endParaRPr>
          </a:p>
        </p:txBody>
      </p:sp>
      <p:pic>
        <p:nvPicPr>
          <p:cNvPr id="32" name="Image 4" descr="preencoded.png">
            <a:extLst>
              <a:ext uri="{FF2B5EF4-FFF2-40B4-BE49-F238E27FC236}">
                <a16:creationId xmlns:a16="http://schemas.microsoft.com/office/drawing/2014/main" id="{A36F754E-08E1-2A88-0A18-CD2F36EEDE2A}"/>
              </a:ext>
            </a:extLst>
          </p:cNvPr>
          <p:cNvPicPr>
            <a:picLocks noChangeAspect="1"/>
          </p:cNvPicPr>
          <p:nvPr/>
        </p:nvPicPr>
        <p:blipFill>
          <a:blip r:embed="rId7"/>
          <a:stretch>
            <a:fillRect/>
          </a:stretch>
        </p:blipFill>
        <p:spPr>
          <a:xfrm>
            <a:off x="7804184" y="4839877"/>
            <a:ext cx="4741361" cy="882786"/>
          </a:xfrm>
          <a:prstGeom prst="rect">
            <a:avLst/>
          </a:prstGeom>
        </p:spPr>
      </p:pic>
      <p:sp>
        <p:nvSpPr>
          <p:cNvPr id="33" name="Text 14">
            <a:extLst>
              <a:ext uri="{FF2B5EF4-FFF2-40B4-BE49-F238E27FC236}">
                <a16:creationId xmlns:a16="http://schemas.microsoft.com/office/drawing/2014/main" id="{581069EE-C159-83FD-3661-FFC042920D21}"/>
              </a:ext>
            </a:extLst>
          </p:cNvPr>
          <p:cNvSpPr/>
          <p:nvPr/>
        </p:nvSpPr>
        <p:spPr>
          <a:xfrm>
            <a:off x="7944916" y="6160983"/>
            <a:ext cx="5930810" cy="299354"/>
          </a:xfrm>
          <a:prstGeom prst="rect">
            <a:avLst/>
          </a:prstGeom>
          <a:noFill/>
          <a:ln/>
        </p:spPr>
        <p:txBody>
          <a:bodyPr wrap="square" lIns="0" tIns="0" rIns="0" bIns="0" rtlCol="0" anchor="t"/>
          <a:lstStyle/>
          <a:p>
            <a:pPr marL="0" indent="0" algn="l">
              <a:lnSpc>
                <a:spcPts val="1900"/>
              </a:lnSpc>
              <a:buNone/>
            </a:pPr>
            <a:r>
              <a:rPr lang="en-US" b="1" dirty="0">
                <a:solidFill>
                  <a:srgbClr val="272525"/>
                </a:solidFill>
                <a:latin typeface="Times New Roman" panose="02020603050405020304" pitchFamily="18" charset="0"/>
                <a:ea typeface="Petrona Bold" pitchFamily="34" charset="-122"/>
                <a:cs typeface="Times New Roman" panose="02020603050405020304" pitchFamily="18" charset="0"/>
              </a:rPr>
              <a:t>Benefits of Chatbot-driven E-Ticketing</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6148B3E9-506C-F618-BEEB-73C60ABAF0B8}"/>
              </a:ext>
            </a:extLst>
          </p:cNvPr>
          <p:cNvSpPr/>
          <p:nvPr/>
        </p:nvSpPr>
        <p:spPr>
          <a:xfrm>
            <a:off x="7944916" y="6624704"/>
            <a:ext cx="5930810" cy="241935"/>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EveryTicket Research Group, 2023; Reducing queues and preventing fraud.</a:t>
            </a:r>
            <a:endParaRPr lang="en-US" sz="1600" dirty="0">
              <a:latin typeface="Times New Roman" panose="02020603050405020304" pitchFamily="18" charset="0"/>
              <a:cs typeface="Times New Roman" panose="02020603050405020304" pitchFamily="18" charset="0"/>
            </a:endParaRPr>
          </a:p>
        </p:txBody>
      </p:sp>
      <p:sp>
        <p:nvSpPr>
          <p:cNvPr id="35" name="Text 16">
            <a:extLst>
              <a:ext uri="{FF2B5EF4-FFF2-40B4-BE49-F238E27FC236}">
                <a16:creationId xmlns:a16="http://schemas.microsoft.com/office/drawing/2014/main" id="{D1FA0422-C43F-98B8-1DF1-EB11B5FC1F12}"/>
              </a:ext>
            </a:extLst>
          </p:cNvPr>
          <p:cNvSpPr/>
          <p:nvPr/>
        </p:nvSpPr>
        <p:spPr>
          <a:xfrm>
            <a:off x="7944916" y="7253503"/>
            <a:ext cx="5930810" cy="450533"/>
          </a:xfrm>
          <a:prstGeom prst="rect">
            <a:avLst/>
          </a:prstGeom>
          <a:noFill/>
          <a:ln/>
        </p:spPr>
        <p:txBody>
          <a:bodyPr wrap="square" lIns="0" tIns="0" rIns="0" bIns="0" rtlCol="0" anchor="t"/>
          <a:lstStyle/>
          <a:p>
            <a:pPr marL="342900" indent="-342900" algn="l">
              <a:lnSpc>
                <a:spcPts val="17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McLean &amp; Osei-Frimpong, 2019; Improving user engagement and satisfaction.</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Best Thanks PowerPoint &amp; Google Slides Templates - SlideEgg">
            <a:extLst>
              <a:ext uri="{FF2B5EF4-FFF2-40B4-BE49-F238E27FC236}">
                <a16:creationId xmlns:a16="http://schemas.microsoft.com/office/drawing/2014/main" id="{DC63379A-AB60-4959-E980-5333F76C2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630400" cy="82296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ebsite logo png Images - Free Download on Freepik">
            <a:hlinkClick r:id="rId3"/>
            <a:extLst>
              <a:ext uri="{FF2B5EF4-FFF2-40B4-BE49-F238E27FC236}">
                <a16:creationId xmlns:a16="http://schemas.microsoft.com/office/drawing/2014/main" id="{BD63BA24-5F32-DB21-EC0A-FEC60DC939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473" y="6038091"/>
            <a:ext cx="917454" cy="9174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hlinkClick r:id="rId3"/>
            <a:extLst>
              <a:ext uri="{FF2B5EF4-FFF2-40B4-BE49-F238E27FC236}">
                <a16:creationId xmlns:a16="http://schemas.microsoft.com/office/drawing/2014/main" id="{76C0834C-BF36-0E1A-981C-7FC8BD6C855B}"/>
              </a:ext>
            </a:extLst>
          </p:cNvPr>
          <p:cNvSpPr txBox="1"/>
          <p:nvPr/>
        </p:nvSpPr>
        <p:spPr>
          <a:xfrm>
            <a:off x="6572922" y="6929377"/>
            <a:ext cx="1484556" cy="369332"/>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Click to Visit</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5590260"/>
      </p:ext>
    </p:extLst>
  </p:cSld>
  <p:clrMapOvr>
    <a:masterClrMapping/>
  </p:clrMapOvr>
  <p:transition>
    <p:fade/>
  </p:transition>
</p:sld>
</file>

<file path=ppt/theme/_rels/them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468</TotalTime>
  <Words>1649</Words>
  <Application>Microsoft Office PowerPoint</Application>
  <PresentationFormat>Custom</PresentationFormat>
  <Paragraphs>188</Paragraphs>
  <Slides>18</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Times New Roman</vt:lpstr>
      <vt:lpstr>Arial</vt:lpstr>
      <vt:lpstr>Garamond</vt:lpstr>
      <vt:lpstr>Office Theme</vt:lpstr>
      <vt:lpstr>Organic</vt:lpstr>
      <vt:lpstr>PowerPoint Presentation</vt:lpstr>
      <vt:lpstr>Submitted by: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Souvik</dc:creator>
  <cp:lastModifiedBy>Debanjan Paul</cp:lastModifiedBy>
  <cp:revision>9</cp:revision>
  <dcterms:created xsi:type="dcterms:W3CDTF">2025-12-17T14:25:17Z</dcterms:created>
  <dcterms:modified xsi:type="dcterms:W3CDTF">2026-06-21T18:16:34Z</dcterms:modified>
</cp:coreProperties>
</file>